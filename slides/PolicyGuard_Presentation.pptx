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POLICYGUARD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C8D2DC"/>
                </a:solidFill>
                <a:latin typeface="Calibri"/>
              </a:rPr>
              <a:t>Source-grounded policy change detection and declarative rule validation
for healthcare payment content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521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9AA8B5"/>
                </a:solidFill>
                <a:latin typeface="Calibri"/>
              </a:rPr>
              <a:t>Cotiviti Generative AI Research Intern Assessment  ·  Topic 3  ·  Haorui Wang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1440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C6B7A"/>
                </a:solidFill>
                <a:latin typeface="Calibri"/>
              </a:rPr>
              <a:t>Payment policy changes must become validated, reviewable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2332"/>
                </a:solidFill>
                <a:latin typeface="Calibri"/>
              </a:defRPr>
            </a:pPr>
            <a:r>
              <a:t>Billing/coding policies change continuously (e.g., CMS NCCI-style guidance).</a:t>
            </a:r>
          </a:p>
          <a:p>
            <a:pPr>
              <a:spcAft>
                <a:spcPts val="800"/>
              </a:spcAft>
              <a:defRPr sz="1600">
                <a:solidFill>
                  <a:srgbClr val="1A2332"/>
                </a:solidFill>
                <a:latin typeface="Calibri"/>
              </a:defRPr>
            </a:pPr>
            <a:r>
              <a:t>Material edits include effective dates and qualitative “integral service” language.</a:t>
            </a:r>
          </a:p>
          <a:p>
            <a:pPr>
              <a:spcAft>
                <a:spcPts val="800"/>
              </a:spcAft>
              <a:defRPr sz="1600">
                <a:solidFill>
                  <a:srgbClr val="1A2332"/>
                </a:solidFill>
                <a:latin typeface="Calibri"/>
              </a:defRPr>
            </a:pPr>
            <a:r>
              <a:t>Risk A: missed updates → payment leakage. Risk B: unsupervised automation → weak accountability.</a:t>
            </a:r>
          </a:p>
          <a:p>
            <a:pPr>
              <a:spcAft>
                <a:spcPts val="800"/>
              </a:spcAft>
              <a:defRPr sz="1600">
                <a:solidFill>
                  <a:srgbClr val="1A2332"/>
                </a:solidFill>
                <a:latin typeface="Calibri"/>
              </a:defRPr>
            </a:pPr>
            <a:r>
              <a:t>Need: evidence-grounded change detection + constrained rules + human approval.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1440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C6B7A"/>
                </a:solidFill>
                <a:latin typeface="Calibri"/>
              </a:rPr>
              <a:t>Deterministic first; LLM optional and non-required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2332"/>
                </a:solidFill>
                <a:latin typeface="Calibri"/>
              </a:defRPr>
            </a:pPr>
            <a:r>
              <a:t>difflib policy version comparison (offline, auditable).</a:t>
            </a:r>
          </a:p>
          <a:p>
            <a:pPr>
              <a:spcAft>
                <a:spcPts val="800"/>
              </a:spcAft>
              <a:defRPr sz="1600">
                <a:solidFill>
                  <a:srgbClr val="1A2332"/>
                </a:solidFill>
                <a:latin typeface="Calibri"/>
              </a:defRPr>
            </a:pPr>
            <a:r>
              <a:t>Source-grounded change objects: document, section, effective date, evidence.</a:t>
            </a:r>
          </a:p>
          <a:p>
            <a:pPr>
              <a:spcAft>
                <a:spcPts val="800"/>
              </a:spcAft>
              <a:defRPr sz="1600">
                <a:solidFill>
                  <a:srgbClr val="1A2332"/>
                </a:solidFill>
                <a:latin typeface="Calibri"/>
              </a:defRPr>
            </a:pPr>
            <a:r>
              <a:t>Pydantic JSON rules — not executable Python; actions limited to flag_for_review.</a:t>
            </a:r>
          </a:p>
          <a:p>
            <a:pPr>
              <a:spcAft>
                <a:spcPts val="800"/>
              </a:spcAft>
              <a:defRPr sz="1600">
                <a:solidFill>
                  <a:srgbClr val="1A2332"/>
                </a:solidFill>
                <a:latin typeface="Calibri"/>
              </a:defRPr>
            </a:pPr>
            <a:r>
              <a:t>Ambiguous language → abstain / request expert interpretation.</a:t>
            </a:r>
          </a:p>
          <a:p>
            <a:pPr>
              <a:spcAft>
                <a:spcPts val="800"/>
              </a:spcAft>
              <a:defRPr sz="1600">
                <a:solidFill>
                  <a:srgbClr val="1A2332"/>
                </a:solidFill>
                <a:latin typeface="Calibri"/>
              </a:defRPr>
            </a:pPr>
            <a:r>
              <a:t>Append-only JSONL audit of reviewer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1440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C6B7A"/>
                </a:solidFill>
                <a:latin typeface="Calibri"/>
              </a:rPr>
              <a:t>PolicyGuard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2332"/>
                </a:solidFill>
                <a:latin typeface="Calibri"/>
              </a:defRPr>
            </a:pPr>
            <a:r>
              <a:t>app.py (Streamlit) orchestrates select → diff → analyze → review → impact → audit.</a:t>
            </a:r>
          </a:p>
          <a:p>
            <a:pPr>
              <a:spcAft>
                <a:spcPts val="800"/>
              </a:spcAft>
              <a:defRPr sz="1600">
                <a:solidFill>
                  <a:srgbClr val="1A2332"/>
                </a:solidFill>
                <a:latin typeface="Calibri"/>
              </a:defRPr>
            </a:pPr>
            <a:r>
              <a:t>src/policy_diff.py → src/change_analyzer.py → src/schema.py → src/rule_engine.py.</a:t>
            </a:r>
          </a:p>
          <a:p>
            <a:pPr>
              <a:spcAft>
                <a:spcPts val="800"/>
              </a:spcAft>
              <a:defRPr sz="1600">
                <a:solidFill>
                  <a:srgbClr val="1A2332"/>
                </a:solidFill>
                <a:latin typeface="Calibri"/>
              </a:defRPr>
            </a:pPr>
            <a:r>
              <a:t>src/audit_log.py persists HITL decisions; evaluation/ scores a demo gold set.</a:t>
            </a:r>
          </a:p>
          <a:p>
            <a:pPr>
              <a:spcAft>
                <a:spcPts val="800"/>
              </a:spcAft>
              <a:defRPr sz="1600">
                <a:solidFill>
                  <a:srgbClr val="1A2332"/>
                </a:solidFill>
                <a:latin typeface="Calibri"/>
              </a:defRPr>
            </a:pPr>
            <a:r>
              <a:t>Demo runs without an API key using cached/deterministic rule proposals.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Demo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1440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C6B7A"/>
                </a:solidFill>
                <a:latin typeface="Calibri"/>
              </a:rPr>
              <a:t>Synthetic NCCI-style 2025 → 2026 excerpts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2332"/>
                </a:solidFill>
                <a:latin typeface="Calibri"/>
              </a:defRPr>
            </a:pPr>
            <a:r>
              <a:t>EXAMPLE1: machine-clear effective-date revision → proposed declarative rule.</a:t>
            </a:r>
          </a:p>
          <a:p>
            <a:pPr>
              <a:spcAft>
                <a:spcPts val="800"/>
              </a:spcAft>
              <a:defRPr sz="1600">
                <a:solidFill>
                  <a:srgbClr val="1A2332"/>
                </a:solidFill>
                <a:latin typeface="Calibri"/>
              </a:defRPr>
            </a:pPr>
            <a:r>
              <a:t>Approve → deterministic engine flags potentially affected synthetic claims.</a:t>
            </a:r>
          </a:p>
          <a:p>
            <a:pPr>
              <a:spcAft>
                <a:spcPts val="800"/>
              </a:spcAft>
              <a:defRPr sz="1600">
                <a:solidFill>
                  <a:srgbClr val="1A2332"/>
                </a:solidFill>
                <a:latin typeface="Calibri"/>
              </a:defRPr>
            </a:pPr>
            <a:r>
              <a:t>EXAMPLE2 integral language: abstain — insufficient evidence for automation.</a:t>
            </a:r>
          </a:p>
          <a:p>
            <a:pPr>
              <a:spcAft>
                <a:spcPts val="800"/>
              </a:spcAft>
              <a:defRPr sz="1600">
                <a:solidFill>
                  <a:srgbClr val="1A2332"/>
                </a:solidFill>
                <a:latin typeface="Calibri"/>
              </a:defRPr>
            </a:pPr>
            <a:r>
              <a:t>Careful language only: flagged for review; no denial / fraud claims.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Evaluation (POC-scale)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1440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C6B7A"/>
                </a:solidFill>
                <a:latin typeface="Calibri"/>
              </a:rPr>
              <a:t>Actual metrics from evaluation/results — tiny gold set, honest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2332"/>
                </a:solidFill>
                <a:latin typeface="Calibri"/>
              </a:defRPr>
            </a:pPr>
            <a:r>
              <a:t>Change-detection precision/recall: 100% / 100%</a:t>
            </a:r>
          </a:p>
          <a:p>
            <a:pPr>
              <a:spcAft>
                <a:spcPts val="800"/>
              </a:spcAft>
              <a:defRPr sz="1600">
                <a:solidFill>
                  <a:srgbClr val="1A2332"/>
                </a:solidFill>
                <a:latin typeface="Calibri"/>
              </a:defRPr>
            </a:pPr>
            <a:r>
              <a:t>Abstention correctness: 100%</a:t>
            </a:r>
          </a:p>
          <a:p>
            <a:pPr>
              <a:spcAft>
                <a:spcPts val="800"/>
              </a:spcAft>
              <a:defRPr sz="1600">
                <a:solidFill>
                  <a:srgbClr val="1A2332"/>
                </a:solidFill>
                <a:latin typeface="Calibri"/>
              </a:defRPr>
            </a:pPr>
            <a:r>
              <a:t>Rule-test pass rate: 100%</a:t>
            </a:r>
          </a:p>
          <a:p>
            <a:pPr>
              <a:spcAft>
                <a:spcPts val="800"/>
              </a:spcAft>
              <a:defRPr sz="1600">
                <a:solidFill>
                  <a:srgbClr val="1A2332"/>
                </a:solidFill>
                <a:latin typeface="Calibri"/>
              </a:defRPr>
            </a:pPr>
            <a:r>
              <a:t>Also tracked: effective-date accuracy, source-citation coverage, simulated reviewer rates.</a:t>
            </a:r>
          </a:p>
          <a:p>
            <a:pPr>
              <a:spcAft>
                <a:spcPts val="800"/>
              </a:spcAft>
              <a:defRPr sz="1600">
                <a:solidFill>
                  <a:srgbClr val="1A2332"/>
                </a:solidFill>
                <a:latin typeface="Calibri"/>
              </a:defRPr>
            </a:pPr>
            <a:r>
              <a:t>Not a production performance claim — instrumentation for assessment demo.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Governance &amp; HITL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1440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C6B7A"/>
                </a:solidFill>
                <a:latin typeface="Calibri"/>
              </a:rPr>
              <a:t>Expert accountability over autonomous payment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2332"/>
                </a:solidFill>
                <a:latin typeface="Calibri"/>
              </a:defRPr>
            </a:pPr>
            <a:r>
              <a:t>Reviewer gates: Approve / Reject / Request Expert Interpretation.</a:t>
            </a:r>
          </a:p>
          <a:p>
            <a:pPr>
              <a:spcAft>
                <a:spcPts val="800"/>
              </a:spcAft>
              <a:defRPr sz="1600">
                <a:solidFill>
                  <a:srgbClr val="1A2332"/>
                </a:solidFill>
                <a:latin typeface="Calibri"/>
              </a:defRPr>
            </a:pPr>
            <a:r>
              <a:t>Schema forbids denial-style actions; engine cannot auto-deny claims.</a:t>
            </a:r>
          </a:p>
          <a:p>
            <a:pPr>
              <a:spcAft>
                <a:spcPts val="800"/>
              </a:spcAft>
              <a:defRPr sz="1600">
                <a:solidFill>
                  <a:srgbClr val="1A2332"/>
                </a:solidFill>
                <a:latin typeface="Calibri"/>
              </a:defRPr>
            </a:pPr>
            <a:r>
              <a:t>Abstention is a success mode for ambiguous policy language.</a:t>
            </a:r>
          </a:p>
          <a:p>
            <a:pPr>
              <a:spcAft>
                <a:spcPts val="800"/>
              </a:spcAft>
              <a:defRPr sz="1600">
                <a:solidFill>
                  <a:srgbClr val="1A2332"/>
                </a:solidFill>
                <a:latin typeface="Calibri"/>
              </a:defRPr>
            </a:pPr>
            <a:r>
              <a:t>Audit JSONL supports reconstruction of who approved what, when.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1440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C6B7A"/>
                </a:solidFill>
                <a:latin typeface="Calibri"/>
              </a:rPr>
              <a:t>Strategic fit for payment policy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2332"/>
                </a:solidFill>
                <a:latin typeface="Calibri"/>
              </a:defRPr>
            </a:pPr>
            <a:r>
              <a:t>Near term: deterministic diff + constrained rules + HITL queue for clear edits.</a:t>
            </a:r>
          </a:p>
          <a:p>
            <a:pPr>
              <a:spcAft>
                <a:spcPts val="800"/>
              </a:spcAft>
              <a:defRPr sz="1600">
                <a:solidFill>
                  <a:srgbClr val="1A2332"/>
                </a:solidFill>
                <a:latin typeface="Calibri"/>
              </a:defRPr>
            </a:pPr>
            <a:r>
              <a:t>Mid term: optional LLM proposals with retrieval + schema validation + abstention.</a:t>
            </a:r>
          </a:p>
          <a:p>
            <a:pPr>
              <a:spcAft>
                <a:spcPts val="800"/>
              </a:spcAft>
              <a:defRPr sz="1600">
                <a:solidFill>
                  <a:srgbClr val="1A2332"/>
                </a:solidFill>
                <a:latin typeface="Calibri"/>
              </a:defRPr>
            </a:pPr>
            <a:r>
              <a:t>Do not execute model-authored Python in payment paths.</a:t>
            </a:r>
          </a:p>
          <a:p>
            <a:pPr>
              <a:spcAft>
                <a:spcPts val="800"/>
              </a:spcAft>
              <a:defRPr sz="1600">
                <a:solidFill>
                  <a:srgbClr val="1A2332"/>
                </a:solidFill>
                <a:latin typeface="Calibri"/>
              </a:defRPr>
            </a:pPr>
            <a:r>
              <a:t>Measure abstention quality and reviewer acceptance alongside detection metrics.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Policy → validated rule → expert accountability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C8D2DC"/>
                </a:solidFill>
                <a:latin typeface="Calibri"/>
              </a:rPr>
              <a:t>Disclaimer: PolicyGuard is a HITL proof of concept. It does not make autonomous
clinical, payment, or claim-denial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