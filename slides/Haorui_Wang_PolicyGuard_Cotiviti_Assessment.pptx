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f6ab3c9e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3f6ab3c9e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f6ab3c9efc_5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g3f6ab3c9efc_5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Problem section. Start with the cost of the current workflow: reviewers may reinterpret the same policy change claim by claim, which is slow and risky. Then explain the POC purpose: PolicyGuard treats the policy change as the unit of work, keeps the evidence attached, creates rules only for structurally decidable changes, dry-runs them on 604 synthetic claims, and abstains when clinical judgment is required. Emphasize no auto-denial.</a:t>
            </a:r>
            <a:endParaRPr/>
          </a:p>
        </p:txBody>
      </p:sp>
      <p:sp>
        <p:nvSpPr>
          <p:cNvPr id="61" name="Google Shape;61;g3f6ab3c9efc_5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6ab3c9efc_3_2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g3f6ab3c9efc_3_2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Problem section continues with required sources. This slide shows that the deck is grounded in public CMS-oriented sources, not invented policy. Be careful with the skilled-therapy row: present it as the ambiguous abstention case, not a separate official data source. Emphasize the source-governance point: no full manuals, no licensed CPT text, and no PHI.</a:t>
            </a:r>
            <a:endParaRPr/>
          </a:p>
        </p:txBody>
      </p:sp>
      <p:sp>
        <p:nvSpPr>
          <p:cNvPr id="97" name="Google Shape;97;g3f6ab3c9efc_3_2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6ab3c9efc_3_5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f6ab3c9efc_3_5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Method section. Walk left to right. The important claim is not that an AI can handle everything; it is that the workflow changes the decision grain. The system compares versions, extracts entities, packages evidence, then produces a declarative rule or abstains. Mention that no LLM was invoked in the reported experiments and the engine never executes generated Python or SQL. The only claim-level action is flag_for_review.</a:t>
            </a:r>
            <a:endParaRPr/>
          </a:p>
        </p:txBody>
      </p:sp>
      <p:sp>
        <p:nvSpPr>
          <p:cNvPr id="125" name="Google Shape;125;g3f6ab3c9efc_3_5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6ab3c9efc_3_8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g3f6ab3c9efc_3_8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Method section. This is the governance slide. Explain that four administrative changes became executable because the claim data included needed fields. The skilled-therapy narrative did not become a claim rule because it requires clinical purpose. Say explicitly: abstention is not a failure; it is how the tool avoids manufacturing review work or unsupported rules.</a:t>
            </a:r>
            <a:endParaRPr/>
          </a:p>
        </p:txBody>
      </p:sp>
      <p:sp>
        <p:nvSpPr>
          <p:cNvPr id="151" name="Google Shape;151;g3f6ab3c9efc_3_8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6ab3c9efc_3_10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g3f6ab3c9efc_3_10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Results section. This is the money slide. Keep the language disciplined. The observed demo result is 55 of 604 synthetic rows routed to review. Say the workflow concentrates review, it does not deny claims. The time math is just a scenario: if a reviewer spent two minutes per claim manually, then the POC path would be much shorter. Immediately say: we do not claim production labor savings, FTE savings, or financial recovery.</a:t>
            </a:r>
            <a:endParaRPr/>
          </a:p>
        </p:txBody>
      </p:sp>
      <p:sp>
        <p:nvSpPr>
          <p:cNvPr id="170" name="Google Shape;170;g3f6ab3c9efc_3_10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6ab3c9efc_3_16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f6ab3c9efc_3_16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Conclusion. Recommend positioning PolicyGuard beside Payment Policy Management as a pre-deployment validation layer. The next step is a small 90-day pilot with expert-labeled changes and governed retrospective data. The measurement plan should include provenance completeness, rule-template acceptance, appropriateness of abstention, reviewer time, queue size, and false-positive burden. End with the clean line: interpret policy once, not 604 times, with a source trail.</a:t>
            </a:r>
            <a:endParaRPr/>
          </a:p>
        </p:txBody>
      </p:sp>
      <p:sp>
        <p:nvSpPr>
          <p:cNvPr id="202" name="Google Shape;202;g3f6ab3c9efc_3_16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6ab3c9e0f_2_23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f6ab3c9e0f_2_23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Close with a specific recommendation: put PolicyGuard alongside Payment Policy Management for clear numeric thresholds, fee changes, code retirements, and code-list updates.</a:t>
            </a:r>
            <a:br>
              <a:rPr lang="en"/>
            </a:br>
            <a:r>
              <a:rPr lang="en"/>
              <a:t>Do not position it as a replacement for reviewers. Position it as a source-grounded workflow that saves interpretation effort and preserves human control.</a:t>
            </a:r>
            <a:br>
              <a:rPr lang="en"/>
            </a:br>
            <a:r>
              <a:rPr lang="en"/>
              <a:t>Final sentence: PolicyGuard saves reviewer time by interpreting policy once, not hundreds of times, with a traceable source trail.</a:t>
            </a:r>
            <a:br>
              <a:rPr lang="en"/>
            </a:br>
            <a:r>
              <a:rPr lang="en"/>
              <a:t>Sources used: CMS Medicare NCCI Policy Manual page, CMS Therapy Services page, Federal Register CY 2026 PFS final rule, and the public repository README at https://github.com/Rae9711/cotiviti-policyguard.</a:t>
            </a:r>
            <a:endParaRPr/>
          </a:p>
        </p:txBody>
      </p:sp>
      <p:sp>
        <p:nvSpPr>
          <p:cNvPr id="225" name="Google Shape;225;g3f6ab3c9e0f_2_23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pic>
        <p:nvPicPr>
          <p:cNvPr descr="Beautify as image" id="57" name="Google Shape;57;p1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 name="Shape 62"/>
        <p:cNvGrpSpPr/>
        <p:nvPr/>
      </p:nvGrpSpPr>
      <p:grpSpPr>
        <a:xfrm>
          <a:off x="0" y="0"/>
          <a:ext cx="0" cy="0"/>
          <a:chOff x="0" y="0"/>
          <a:chExt cx="0" cy="0"/>
        </a:xfrm>
      </p:grpSpPr>
      <p:sp>
        <p:nvSpPr>
          <p:cNvPr id="63" name="Google Shape;63;p17"/>
          <p:cNvSpPr/>
          <p:nvPr/>
        </p:nvSpPr>
        <p:spPr>
          <a:xfrm>
            <a:off x="0" y="0"/>
            <a:ext cx="9143771" cy="68580"/>
          </a:xfrm>
          <a:prstGeom prst="rect">
            <a:avLst/>
          </a:prstGeom>
          <a:solidFill>
            <a:srgbClr val="0E8F8F"/>
          </a:solidFill>
          <a:ln cap="flat" cmpd="sng" w="1270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 name="Google Shape;64;p17"/>
          <p:cNvSpPr/>
          <p:nvPr/>
        </p:nvSpPr>
        <p:spPr>
          <a:xfrm>
            <a:off x="329184" y="178308"/>
            <a:ext cx="15087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700"/>
              <a:buFont typeface="Arial"/>
              <a:buNone/>
            </a:pPr>
            <a:r>
              <a:rPr b="1" i="0" lang="en" sz="700" u="none" cap="none" strike="noStrike">
                <a:solidFill>
                  <a:srgbClr val="0E8F8F"/>
                </a:solidFill>
                <a:latin typeface="Arial"/>
                <a:ea typeface="Arial"/>
                <a:cs typeface="Arial"/>
                <a:sym typeface="Arial"/>
              </a:rPr>
              <a:t>PROBLEM</a:t>
            </a:r>
            <a:endParaRPr b="0" i="0" sz="700" u="none" cap="none" strike="noStrike">
              <a:solidFill>
                <a:schemeClr val="dk1"/>
              </a:solidFill>
              <a:latin typeface="Arial"/>
              <a:ea typeface="Arial"/>
              <a:cs typeface="Arial"/>
              <a:sym typeface="Arial"/>
            </a:endParaRPr>
          </a:p>
        </p:txBody>
      </p:sp>
      <p:sp>
        <p:nvSpPr>
          <p:cNvPr id="65" name="Google Shape;65;p17"/>
          <p:cNvSpPr/>
          <p:nvPr/>
        </p:nvSpPr>
        <p:spPr>
          <a:xfrm>
            <a:off x="8366760" y="4786884"/>
            <a:ext cx="377190" cy="17145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00"/>
              <a:buFont typeface="Arial"/>
              <a:buNone/>
            </a:pPr>
            <a:r>
              <a:rPr b="0" i="0" lang="en" sz="700" u="none" cap="none" strike="noStrike">
                <a:solidFill>
                  <a:srgbClr val="667085"/>
                </a:solidFill>
                <a:latin typeface="Arial"/>
                <a:ea typeface="Arial"/>
                <a:cs typeface="Arial"/>
                <a:sym typeface="Arial"/>
              </a:rPr>
              <a:t>02</a:t>
            </a:r>
            <a:endParaRPr b="0" i="0" sz="700" u="none" cap="none" strike="noStrike">
              <a:solidFill>
                <a:schemeClr val="dk1"/>
              </a:solidFill>
              <a:latin typeface="Arial"/>
              <a:ea typeface="Arial"/>
              <a:cs typeface="Arial"/>
              <a:sym typeface="Arial"/>
            </a:endParaRPr>
          </a:p>
        </p:txBody>
      </p:sp>
      <p:cxnSp>
        <p:nvCxnSpPr>
          <p:cNvPr id="66" name="Google Shape;66;p17"/>
          <p:cNvCxnSpPr/>
          <p:nvPr/>
        </p:nvCxnSpPr>
        <p:spPr>
          <a:xfrm>
            <a:off x="329184" y="4704588"/>
            <a:ext cx="8469630" cy="0"/>
          </a:xfrm>
          <a:prstGeom prst="straightConnector1">
            <a:avLst/>
          </a:prstGeom>
          <a:noFill/>
          <a:ln cap="flat" cmpd="sng" w="9525">
            <a:solidFill>
              <a:srgbClr val="D7DEE5"/>
            </a:solidFill>
            <a:prstDash val="solid"/>
            <a:round/>
            <a:headEnd len="sm" w="sm" type="none"/>
            <a:tailEnd len="sm" w="sm" type="none"/>
          </a:ln>
        </p:spPr>
      </p:cxnSp>
      <p:sp>
        <p:nvSpPr>
          <p:cNvPr id="67" name="Google Shape;67;p17"/>
          <p:cNvSpPr/>
          <p:nvPr/>
        </p:nvSpPr>
        <p:spPr>
          <a:xfrm>
            <a:off x="322326" y="438912"/>
            <a:ext cx="41148" cy="294894"/>
          </a:xfrm>
          <a:prstGeom prst="rect">
            <a:avLst/>
          </a:prstGeom>
          <a:solidFill>
            <a:srgbClr val="0E8F8F"/>
          </a:solidFill>
          <a:ln cap="flat" cmpd="sng" w="1270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 name="Google Shape;68;p17"/>
          <p:cNvSpPr/>
          <p:nvPr/>
        </p:nvSpPr>
        <p:spPr>
          <a:xfrm>
            <a:off x="425196" y="404622"/>
            <a:ext cx="7406640" cy="37719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0B1F33"/>
              </a:buClr>
              <a:buSzPts val="1800"/>
              <a:buFont typeface="Arial"/>
              <a:buNone/>
            </a:pPr>
            <a:r>
              <a:rPr b="1" lang="en" sz="1800">
                <a:solidFill>
                  <a:srgbClr val="0B1F33"/>
                </a:solidFill>
              </a:rPr>
              <a:t>Problem: </a:t>
            </a:r>
            <a:r>
              <a:rPr b="1" i="0" lang="en" sz="1800" u="none" cap="none" strike="noStrike">
                <a:solidFill>
                  <a:srgbClr val="0B1F33"/>
                </a:solidFill>
                <a:latin typeface="Arial"/>
                <a:ea typeface="Arial"/>
                <a:cs typeface="Arial"/>
                <a:sym typeface="Arial"/>
              </a:rPr>
              <a:t>Interpret the change once — not claim by claim</a:t>
            </a:r>
            <a:endParaRPr b="0" i="0" sz="1800" u="none" cap="none" strike="noStrike">
              <a:solidFill>
                <a:schemeClr val="dk1"/>
              </a:solidFill>
              <a:latin typeface="Arial"/>
              <a:ea typeface="Arial"/>
              <a:cs typeface="Arial"/>
              <a:sym typeface="Arial"/>
            </a:endParaRPr>
          </a:p>
        </p:txBody>
      </p:sp>
      <p:sp>
        <p:nvSpPr>
          <p:cNvPr id="69" name="Google Shape;69;p17"/>
          <p:cNvSpPr/>
          <p:nvPr/>
        </p:nvSpPr>
        <p:spPr>
          <a:xfrm>
            <a:off x="329184" y="822960"/>
            <a:ext cx="78867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238"/>
              </a:buClr>
              <a:buSzPts val="1000"/>
              <a:buFont typeface="Arial"/>
              <a:buNone/>
            </a:pPr>
            <a:r>
              <a:rPr b="0" i="0" lang="en" sz="1000" u="none" cap="none" strike="noStrike">
                <a:solidFill>
                  <a:srgbClr val="263238"/>
                </a:solidFill>
                <a:latin typeface="Arial"/>
                <a:ea typeface="Arial"/>
                <a:cs typeface="Arial"/>
                <a:sym typeface="Arial"/>
              </a:rPr>
              <a:t>Payers must turn yearly billing and coding policy updates into consistent review logic.</a:t>
            </a:r>
            <a:endParaRPr b="0" i="0" sz="1000" u="none" cap="none" strike="noStrike">
              <a:solidFill>
                <a:schemeClr val="dk1"/>
              </a:solidFill>
              <a:latin typeface="Arial"/>
              <a:ea typeface="Arial"/>
              <a:cs typeface="Arial"/>
              <a:sym typeface="Arial"/>
            </a:endParaRPr>
          </a:p>
        </p:txBody>
      </p:sp>
      <p:sp>
        <p:nvSpPr>
          <p:cNvPr id="70" name="Google Shape;70;p17"/>
          <p:cNvSpPr/>
          <p:nvPr/>
        </p:nvSpPr>
        <p:spPr>
          <a:xfrm>
            <a:off x="329184" y="1124712"/>
            <a:ext cx="4011930" cy="2948940"/>
          </a:xfrm>
          <a:prstGeom prst="roundRect">
            <a:avLst>
              <a:gd fmla="val 1860" name="adj"/>
            </a:avLst>
          </a:prstGeom>
          <a:solidFill>
            <a:srgbClr val="F7F9FB"/>
          </a:solidFill>
          <a:ln cap="flat" cmpd="sng" w="9525">
            <a:solidFill>
              <a:srgbClr val="D7DE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71" name="Google Shape;71;p17"/>
          <p:cNvSpPr/>
          <p:nvPr/>
        </p:nvSpPr>
        <p:spPr>
          <a:xfrm>
            <a:off x="4629150" y="1124712"/>
            <a:ext cx="4080510" cy="2948940"/>
          </a:xfrm>
          <a:prstGeom prst="roundRect">
            <a:avLst>
              <a:gd fmla="val 1860" name="adj"/>
            </a:avLst>
          </a:prstGeom>
          <a:solidFill>
            <a:srgbClr val="F1FAFA"/>
          </a:solidFill>
          <a:ln cap="flat" cmpd="sng" w="9525">
            <a:solidFill>
              <a:srgbClr val="BDE5D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 name="Google Shape;72;p17"/>
          <p:cNvSpPr/>
          <p:nvPr/>
        </p:nvSpPr>
        <p:spPr>
          <a:xfrm>
            <a:off x="534924" y="1261872"/>
            <a:ext cx="346329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100"/>
              <a:buFont typeface="Arial"/>
              <a:buNone/>
            </a:pPr>
            <a:r>
              <a:rPr b="1" i="0" lang="en" sz="1200" u="none" cap="none" strike="noStrike">
                <a:solidFill>
                  <a:srgbClr val="0B1F33"/>
                </a:solidFill>
                <a:latin typeface="Arial"/>
                <a:ea typeface="Arial"/>
                <a:cs typeface="Arial"/>
                <a:sym typeface="Arial"/>
              </a:rPr>
              <a:t>Today: fragmented workflow</a:t>
            </a:r>
            <a:endParaRPr b="0" i="0" sz="1200" u="none" cap="none" strike="noStrike">
              <a:solidFill>
                <a:schemeClr val="dk1"/>
              </a:solidFill>
              <a:latin typeface="Arial"/>
              <a:ea typeface="Arial"/>
              <a:cs typeface="Arial"/>
              <a:sym typeface="Arial"/>
            </a:endParaRPr>
          </a:p>
        </p:txBody>
      </p:sp>
      <p:sp>
        <p:nvSpPr>
          <p:cNvPr id="73" name="Google Shape;73;p17"/>
          <p:cNvSpPr/>
          <p:nvPr/>
        </p:nvSpPr>
        <p:spPr>
          <a:xfrm>
            <a:off x="4834901" y="1261875"/>
            <a:ext cx="387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100"/>
              <a:buFont typeface="Arial"/>
              <a:buNone/>
            </a:pPr>
            <a:r>
              <a:rPr b="1" i="0" lang="en" sz="1300" u="none" cap="none" strike="noStrike">
                <a:solidFill>
                  <a:srgbClr val="0B1F33"/>
                </a:solidFill>
                <a:latin typeface="Arial"/>
                <a:ea typeface="Arial"/>
                <a:cs typeface="Arial"/>
                <a:sym typeface="Arial"/>
              </a:rPr>
              <a:t>Purpose of the POC: centralized change-unit</a:t>
            </a:r>
            <a:endParaRPr b="0" i="0" sz="1300" u="none" cap="none" strike="noStrike">
              <a:solidFill>
                <a:schemeClr val="dk1"/>
              </a:solidFill>
              <a:latin typeface="Arial"/>
              <a:ea typeface="Arial"/>
              <a:cs typeface="Arial"/>
              <a:sym typeface="Arial"/>
            </a:endParaRPr>
          </a:p>
        </p:txBody>
      </p:sp>
      <p:sp>
        <p:nvSpPr>
          <p:cNvPr id="74" name="Google Shape;74;p17"/>
          <p:cNvSpPr/>
          <p:nvPr/>
        </p:nvSpPr>
        <p:spPr>
          <a:xfrm>
            <a:off x="480060" y="1625346"/>
            <a:ext cx="123444"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1300"/>
              <a:buFont typeface="Arial"/>
              <a:buNone/>
            </a:pPr>
            <a:r>
              <a:rPr b="1" i="0" lang="en" sz="1300" u="none" cap="none" strike="noStrike">
                <a:solidFill>
                  <a:srgbClr val="0E8F8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75" name="Google Shape;75;p17"/>
          <p:cNvSpPr/>
          <p:nvPr/>
        </p:nvSpPr>
        <p:spPr>
          <a:xfrm>
            <a:off x="651510" y="1618488"/>
            <a:ext cx="349758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238"/>
              </a:buClr>
              <a:buSzPts val="900"/>
              <a:buFont typeface="Arial"/>
              <a:buNone/>
            </a:pPr>
            <a:r>
              <a:rPr b="1" i="0" lang="en" sz="1200" u="none" cap="none" strike="noStrike">
                <a:solidFill>
                  <a:srgbClr val="263238"/>
                </a:solidFill>
                <a:latin typeface="Arial"/>
                <a:ea typeface="Arial"/>
                <a:cs typeface="Arial"/>
                <a:sym typeface="Arial"/>
              </a:rPr>
              <a:t>Slow: </a:t>
            </a:r>
            <a:r>
              <a:rPr b="0" i="0" lang="en" sz="1200" u="none" cap="none" strike="noStrike">
                <a:solidFill>
                  <a:srgbClr val="263238"/>
                </a:solidFill>
                <a:latin typeface="Arial"/>
                <a:ea typeface="Arial"/>
                <a:cs typeface="Arial"/>
                <a:sym typeface="Arial"/>
              </a:rPr>
              <a:t>reviewers re-read policy while handling individual claims.</a:t>
            </a:r>
            <a:endParaRPr b="0" i="0" sz="1200" u="none" cap="none" strike="noStrike">
              <a:solidFill>
                <a:schemeClr val="dk1"/>
              </a:solidFill>
              <a:latin typeface="Arial"/>
              <a:ea typeface="Arial"/>
              <a:cs typeface="Arial"/>
              <a:sym typeface="Arial"/>
            </a:endParaRPr>
          </a:p>
        </p:txBody>
      </p:sp>
      <p:sp>
        <p:nvSpPr>
          <p:cNvPr id="76" name="Google Shape;76;p17"/>
          <p:cNvSpPr/>
          <p:nvPr/>
        </p:nvSpPr>
        <p:spPr>
          <a:xfrm>
            <a:off x="480060" y="2077974"/>
            <a:ext cx="123444"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1300"/>
              <a:buFont typeface="Arial"/>
              <a:buNone/>
            </a:pPr>
            <a:r>
              <a:rPr b="1" i="0" lang="en" sz="1300" u="none" cap="none" strike="noStrike">
                <a:solidFill>
                  <a:srgbClr val="0E8F8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77" name="Google Shape;77;p17"/>
          <p:cNvSpPr/>
          <p:nvPr/>
        </p:nvSpPr>
        <p:spPr>
          <a:xfrm>
            <a:off x="651510" y="2071116"/>
            <a:ext cx="349758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238"/>
              </a:buClr>
              <a:buSzPts val="900"/>
              <a:buFont typeface="Arial"/>
              <a:buNone/>
            </a:pPr>
            <a:r>
              <a:rPr b="1" i="0" lang="en" sz="1200" u="none" cap="none" strike="noStrike">
                <a:solidFill>
                  <a:srgbClr val="263238"/>
                </a:solidFill>
                <a:latin typeface="Arial"/>
                <a:ea typeface="Arial"/>
                <a:cs typeface="Arial"/>
                <a:sym typeface="Arial"/>
              </a:rPr>
              <a:t>Manual: </a:t>
            </a:r>
            <a:r>
              <a:rPr b="0" i="0" lang="en" sz="1200" u="none" cap="none" strike="noStrike">
                <a:solidFill>
                  <a:srgbClr val="263238"/>
                </a:solidFill>
                <a:latin typeface="Arial"/>
                <a:ea typeface="Arial"/>
                <a:cs typeface="Arial"/>
                <a:sym typeface="Arial"/>
              </a:rPr>
              <a:t>change detection, evidence capture, and rule handoff are fragmented.</a:t>
            </a:r>
            <a:endParaRPr b="0" i="0" sz="1200" u="none" cap="none" strike="noStrike">
              <a:solidFill>
                <a:schemeClr val="dk1"/>
              </a:solidFill>
              <a:latin typeface="Arial"/>
              <a:ea typeface="Arial"/>
              <a:cs typeface="Arial"/>
              <a:sym typeface="Arial"/>
            </a:endParaRPr>
          </a:p>
        </p:txBody>
      </p:sp>
      <p:sp>
        <p:nvSpPr>
          <p:cNvPr id="78" name="Google Shape;78;p17"/>
          <p:cNvSpPr/>
          <p:nvPr/>
        </p:nvSpPr>
        <p:spPr>
          <a:xfrm>
            <a:off x="480060" y="2571750"/>
            <a:ext cx="123444"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1300"/>
              <a:buFont typeface="Arial"/>
              <a:buNone/>
            </a:pPr>
            <a:r>
              <a:rPr b="1" i="0" lang="en" sz="1300" u="none" cap="none" strike="noStrike">
                <a:solidFill>
                  <a:srgbClr val="0E8F8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79" name="Google Shape;79;p17"/>
          <p:cNvSpPr/>
          <p:nvPr/>
        </p:nvSpPr>
        <p:spPr>
          <a:xfrm>
            <a:off x="651510" y="2564892"/>
            <a:ext cx="34975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238"/>
              </a:buClr>
              <a:buSzPts val="900"/>
              <a:buFont typeface="Arial"/>
              <a:buNone/>
            </a:pPr>
            <a:r>
              <a:rPr b="1" i="0" lang="en" sz="1200" u="none" cap="none" strike="noStrike">
                <a:solidFill>
                  <a:srgbClr val="263238"/>
                </a:solidFill>
                <a:latin typeface="Arial"/>
                <a:ea typeface="Arial"/>
                <a:cs typeface="Arial"/>
                <a:sym typeface="Arial"/>
              </a:rPr>
              <a:t>Risky: </a:t>
            </a:r>
            <a:r>
              <a:rPr b="0" i="0" lang="en" sz="1200" u="none" cap="none" strike="noStrike">
                <a:solidFill>
                  <a:srgbClr val="263238"/>
                </a:solidFill>
                <a:latin typeface="Arial"/>
                <a:ea typeface="Arial"/>
                <a:cs typeface="Arial"/>
                <a:sym typeface="Arial"/>
              </a:rPr>
              <a:t>a missed change causes inconsistent reviews; an unsupported rule creates provider abrasion.</a:t>
            </a:r>
            <a:endParaRPr b="0" i="0" sz="1200" u="none" cap="none" strike="noStrike">
              <a:solidFill>
                <a:schemeClr val="dk1"/>
              </a:solidFill>
              <a:latin typeface="Arial"/>
              <a:ea typeface="Arial"/>
              <a:cs typeface="Arial"/>
              <a:sym typeface="Arial"/>
            </a:endParaRPr>
          </a:p>
        </p:txBody>
      </p:sp>
      <p:sp>
        <p:nvSpPr>
          <p:cNvPr id="80" name="Google Shape;80;p17"/>
          <p:cNvSpPr/>
          <p:nvPr/>
        </p:nvSpPr>
        <p:spPr>
          <a:xfrm>
            <a:off x="480060" y="3175254"/>
            <a:ext cx="123444"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1300"/>
              <a:buFont typeface="Arial"/>
              <a:buNone/>
            </a:pPr>
            <a:r>
              <a:rPr b="1" i="0" lang="en" sz="1300" u="none" cap="none" strike="noStrike">
                <a:solidFill>
                  <a:srgbClr val="0E8F8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81" name="Google Shape;81;p17"/>
          <p:cNvSpPr/>
          <p:nvPr/>
        </p:nvSpPr>
        <p:spPr>
          <a:xfrm>
            <a:off x="651510" y="3168396"/>
            <a:ext cx="34975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238"/>
              </a:buClr>
              <a:buSzPts val="900"/>
              <a:buFont typeface="Arial"/>
              <a:buNone/>
            </a:pPr>
            <a:r>
              <a:rPr b="1" i="0" lang="en" sz="1200" u="none" cap="none" strike="noStrike">
                <a:solidFill>
                  <a:srgbClr val="263238"/>
                </a:solidFill>
                <a:latin typeface="Arial"/>
                <a:ea typeface="Arial"/>
                <a:cs typeface="Arial"/>
                <a:sym typeface="Arial"/>
              </a:rPr>
              <a:t>Hard to defend: </a:t>
            </a:r>
            <a:r>
              <a:rPr b="0" i="0" lang="en" sz="1200" u="none" cap="none" strike="noStrike">
                <a:solidFill>
                  <a:srgbClr val="263238"/>
                </a:solidFill>
                <a:latin typeface="Arial"/>
                <a:ea typeface="Arial"/>
                <a:cs typeface="Arial"/>
                <a:sym typeface="Arial"/>
              </a:rPr>
              <a:t>the source trail can get separated from the review decision.</a:t>
            </a:r>
            <a:endParaRPr b="0" i="0" sz="1200" u="none" cap="none" strike="noStrike">
              <a:solidFill>
                <a:schemeClr val="dk1"/>
              </a:solidFill>
              <a:latin typeface="Arial"/>
              <a:ea typeface="Arial"/>
              <a:cs typeface="Arial"/>
              <a:sym typeface="Arial"/>
            </a:endParaRPr>
          </a:p>
        </p:txBody>
      </p:sp>
      <p:sp>
        <p:nvSpPr>
          <p:cNvPr id="82" name="Google Shape;82;p17"/>
          <p:cNvSpPr/>
          <p:nvPr/>
        </p:nvSpPr>
        <p:spPr>
          <a:xfrm>
            <a:off x="4780026" y="1584198"/>
            <a:ext cx="123444"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1300"/>
              <a:buFont typeface="Arial"/>
              <a:buNone/>
            </a:pPr>
            <a:r>
              <a:rPr b="1" i="0" lang="en" sz="1300" u="none" cap="none" strike="noStrike">
                <a:solidFill>
                  <a:srgbClr val="0E8F8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83" name="Google Shape;83;p17"/>
          <p:cNvSpPr/>
          <p:nvPr/>
        </p:nvSpPr>
        <p:spPr>
          <a:xfrm>
            <a:off x="4951476" y="1577340"/>
            <a:ext cx="356616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238"/>
              </a:buClr>
              <a:buSzPts val="900"/>
              <a:buFont typeface="Arial"/>
              <a:buNone/>
            </a:pPr>
            <a:r>
              <a:rPr b="1" i="0" lang="en" sz="1100" u="none" cap="none" strike="noStrike">
                <a:solidFill>
                  <a:srgbClr val="263238"/>
                </a:solidFill>
                <a:latin typeface="Arial"/>
                <a:ea typeface="Arial"/>
                <a:cs typeface="Arial"/>
                <a:sym typeface="Arial"/>
              </a:rPr>
              <a:t>Grounded: </a:t>
            </a:r>
            <a:r>
              <a:rPr b="0" i="0" lang="en" sz="1100" u="none" cap="none" strike="noStrike">
                <a:solidFill>
                  <a:srgbClr val="263238"/>
                </a:solidFill>
                <a:latin typeface="Arial"/>
                <a:ea typeface="Arial"/>
                <a:cs typeface="Arial"/>
                <a:sym typeface="Arial"/>
              </a:rPr>
              <a:t>recover five specified CY 2025–2026 changes from public CMS-source evidence.</a:t>
            </a:r>
            <a:endParaRPr b="0" i="0" sz="1100" u="none" cap="none" strike="noStrike">
              <a:solidFill>
                <a:schemeClr val="dk1"/>
              </a:solidFill>
              <a:latin typeface="Arial"/>
              <a:ea typeface="Arial"/>
              <a:cs typeface="Arial"/>
              <a:sym typeface="Arial"/>
            </a:endParaRPr>
          </a:p>
        </p:txBody>
      </p:sp>
      <p:sp>
        <p:nvSpPr>
          <p:cNvPr id="84" name="Google Shape;84;p17"/>
          <p:cNvSpPr/>
          <p:nvPr/>
        </p:nvSpPr>
        <p:spPr>
          <a:xfrm>
            <a:off x="4780026" y="2064258"/>
            <a:ext cx="123444"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1300"/>
              <a:buFont typeface="Arial"/>
              <a:buNone/>
            </a:pPr>
            <a:r>
              <a:rPr b="1" i="0" lang="en" sz="1300" u="none" cap="none" strike="noStrike">
                <a:solidFill>
                  <a:srgbClr val="0E8F8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85" name="Google Shape;85;p17"/>
          <p:cNvSpPr/>
          <p:nvPr/>
        </p:nvSpPr>
        <p:spPr>
          <a:xfrm>
            <a:off x="4951476" y="2057400"/>
            <a:ext cx="356616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238"/>
              </a:buClr>
              <a:buSzPts val="900"/>
              <a:buFont typeface="Arial"/>
              <a:buNone/>
            </a:pPr>
            <a:r>
              <a:rPr b="1" i="0" lang="en" sz="1100" u="none" cap="none" strike="noStrike">
                <a:solidFill>
                  <a:srgbClr val="263238"/>
                </a:solidFill>
                <a:latin typeface="Arial"/>
                <a:ea typeface="Arial"/>
                <a:cs typeface="Arial"/>
                <a:sym typeface="Arial"/>
              </a:rPr>
              <a:t>Decidable only: </a:t>
            </a:r>
            <a:r>
              <a:rPr b="0" i="0" lang="en" sz="1100" u="none" cap="none" strike="noStrike">
                <a:solidFill>
                  <a:srgbClr val="263238"/>
                </a:solidFill>
                <a:latin typeface="Arial"/>
                <a:ea typeface="Arial"/>
                <a:cs typeface="Arial"/>
                <a:sym typeface="Arial"/>
              </a:rPr>
              <a:t>convert changes into schema-validated rules only when claim fields contain the needed facts.</a:t>
            </a:r>
            <a:endParaRPr b="0" i="0" sz="1100" u="none" cap="none" strike="noStrike">
              <a:solidFill>
                <a:schemeClr val="dk1"/>
              </a:solidFill>
              <a:latin typeface="Arial"/>
              <a:ea typeface="Arial"/>
              <a:cs typeface="Arial"/>
              <a:sym typeface="Arial"/>
            </a:endParaRPr>
          </a:p>
        </p:txBody>
      </p:sp>
      <p:sp>
        <p:nvSpPr>
          <p:cNvPr id="86" name="Google Shape;86;p17"/>
          <p:cNvSpPr/>
          <p:nvPr/>
        </p:nvSpPr>
        <p:spPr>
          <a:xfrm>
            <a:off x="4780026" y="2626614"/>
            <a:ext cx="123444"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1300"/>
              <a:buFont typeface="Arial"/>
              <a:buNone/>
            </a:pPr>
            <a:r>
              <a:rPr b="1" i="0" lang="en" sz="1300" u="none" cap="none" strike="noStrike">
                <a:solidFill>
                  <a:srgbClr val="0E8F8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87" name="Google Shape;87;p17"/>
          <p:cNvSpPr/>
          <p:nvPr/>
        </p:nvSpPr>
        <p:spPr>
          <a:xfrm>
            <a:off x="4951476" y="2619756"/>
            <a:ext cx="3566160" cy="397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238"/>
              </a:buClr>
              <a:buSzPts val="900"/>
              <a:buFont typeface="Arial"/>
              <a:buNone/>
            </a:pPr>
            <a:r>
              <a:rPr b="1" i="0" lang="en" sz="1100" u="none" cap="none" strike="noStrike">
                <a:solidFill>
                  <a:srgbClr val="263238"/>
                </a:solidFill>
                <a:latin typeface="Arial"/>
                <a:ea typeface="Arial"/>
                <a:cs typeface="Arial"/>
                <a:sym typeface="Arial"/>
              </a:rPr>
              <a:t>Dry-run impact: </a:t>
            </a:r>
            <a:r>
              <a:rPr b="0" i="0" lang="en" sz="1100" u="none" cap="none" strike="noStrike">
                <a:solidFill>
                  <a:srgbClr val="263238"/>
                </a:solidFill>
                <a:latin typeface="Arial"/>
                <a:ea typeface="Arial"/>
                <a:cs typeface="Arial"/>
                <a:sym typeface="Arial"/>
              </a:rPr>
              <a:t>apply approved rules to 604 synthetic claims and route candidates to human review.</a:t>
            </a:r>
            <a:endParaRPr b="0" i="0" sz="1100" u="none" cap="none" strike="noStrike">
              <a:solidFill>
                <a:schemeClr val="dk1"/>
              </a:solidFill>
              <a:latin typeface="Arial"/>
              <a:ea typeface="Arial"/>
              <a:cs typeface="Arial"/>
              <a:sym typeface="Arial"/>
            </a:endParaRPr>
          </a:p>
        </p:txBody>
      </p:sp>
      <p:sp>
        <p:nvSpPr>
          <p:cNvPr id="88" name="Google Shape;88;p17"/>
          <p:cNvSpPr/>
          <p:nvPr/>
        </p:nvSpPr>
        <p:spPr>
          <a:xfrm>
            <a:off x="4780026" y="3147822"/>
            <a:ext cx="123444"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1300"/>
              <a:buFont typeface="Arial"/>
              <a:buNone/>
            </a:pPr>
            <a:r>
              <a:rPr b="1" i="0" lang="en" sz="1300" u="none" cap="none" strike="noStrike">
                <a:solidFill>
                  <a:srgbClr val="0E8F8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89" name="Google Shape;89;p17"/>
          <p:cNvSpPr/>
          <p:nvPr/>
        </p:nvSpPr>
        <p:spPr>
          <a:xfrm>
            <a:off x="4951476" y="3140964"/>
            <a:ext cx="356616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238"/>
              </a:buClr>
              <a:buSzPts val="900"/>
              <a:buFont typeface="Arial"/>
              <a:buNone/>
            </a:pPr>
            <a:r>
              <a:rPr b="1" i="0" lang="en" sz="1100" u="none" cap="none" strike="noStrike">
                <a:solidFill>
                  <a:srgbClr val="263238"/>
                </a:solidFill>
                <a:latin typeface="Arial"/>
                <a:ea typeface="Arial"/>
                <a:cs typeface="Arial"/>
                <a:sym typeface="Arial"/>
              </a:rPr>
              <a:t>Abstain: </a:t>
            </a:r>
            <a:r>
              <a:rPr b="0" i="0" lang="en" sz="1100" u="none" cap="none" strike="noStrike">
                <a:solidFill>
                  <a:srgbClr val="263238"/>
                </a:solidFill>
                <a:latin typeface="Arial"/>
                <a:ea typeface="Arial"/>
                <a:cs typeface="Arial"/>
                <a:sym typeface="Arial"/>
              </a:rPr>
              <a:t>stop when clinical judgment is required instead of manufacturing a claim rule.</a:t>
            </a:r>
            <a:endParaRPr b="0" i="0" sz="1100" u="none" cap="none" strike="noStrike">
              <a:solidFill>
                <a:schemeClr val="dk1"/>
              </a:solidFill>
              <a:latin typeface="Arial"/>
              <a:ea typeface="Arial"/>
              <a:cs typeface="Arial"/>
              <a:sym typeface="Arial"/>
            </a:endParaRPr>
          </a:p>
        </p:txBody>
      </p:sp>
      <p:sp>
        <p:nvSpPr>
          <p:cNvPr id="90" name="Google Shape;90;p17"/>
          <p:cNvSpPr/>
          <p:nvPr/>
        </p:nvSpPr>
        <p:spPr>
          <a:xfrm>
            <a:off x="4834890" y="3662172"/>
            <a:ext cx="3566160" cy="233172"/>
          </a:xfrm>
          <a:prstGeom prst="roundRect">
            <a:avLst>
              <a:gd fmla="val 32353" name="adj"/>
            </a:avLst>
          </a:prstGeom>
          <a:solidFill>
            <a:srgbClr val="D8ECEC"/>
          </a:solidFill>
          <a:ln cap="flat" cmpd="sng" w="12700">
            <a:solidFill>
              <a:srgbClr val="D8ECE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 name="Google Shape;91;p17"/>
          <p:cNvSpPr/>
          <p:nvPr/>
        </p:nvSpPr>
        <p:spPr>
          <a:xfrm>
            <a:off x="4965192" y="3703320"/>
            <a:ext cx="3305556" cy="137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8F8F"/>
              </a:buClr>
              <a:buSzPts val="700"/>
              <a:buFont typeface="Arial"/>
              <a:buNone/>
            </a:pPr>
            <a:r>
              <a:rPr b="1" i="0" lang="en" sz="900" u="none" cap="none" strike="noStrike">
                <a:solidFill>
                  <a:srgbClr val="0E8F8F"/>
                </a:solidFill>
                <a:latin typeface="Arial"/>
                <a:ea typeface="Arial"/>
                <a:cs typeface="Arial"/>
                <a:sym typeface="Arial"/>
              </a:rPr>
              <a:t>No denial without evidence · automatic_claim_action = false</a:t>
            </a:r>
            <a:endParaRPr b="0" i="0" sz="900" u="none" cap="none" strike="noStrike">
              <a:solidFill>
                <a:schemeClr val="dk1"/>
              </a:solidFill>
              <a:latin typeface="Arial"/>
              <a:ea typeface="Arial"/>
              <a:cs typeface="Arial"/>
              <a:sym typeface="Arial"/>
            </a:endParaRPr>
          </a:p>
        </p:txBody>
      </p:sp>
      <p:sp>
        <p:nvSpPr>
          <p:cNvPr id="92" name="Google Shape;92;p17"/>
          <p:cNvSpPr/>
          <p:nvPr/>
        </p:nvSpPr>
        <p:spPr>
          <a:xfrm>
            <a:off x="329184" y="4238244"/>
            <a:ext cx="8380476" cy="384048"/>
          </a:xfrm>
          <a:prstGeom prst="rect">
            <a:avLst/>
          </a:prstGeom>
          <a:solidFill>
            <a:srgbClr val="0B1F33"/>
          </a:solidFill>
          <a:ln cap="flat" cmpd="sng" w="9525">
            <a:solidFill>
              <a:srgbClr val="0B1F33"/>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FFFFFF"/>
              </a:buClr>
              <a:buSzPts val="1100"/>
              <a:buFont typeface="Arial"/>
              <a:buNone/>
            </a:pPr>
            <a:r>
              <a:rPr b="1" i="0" lang="en" sz="1100" u="none" cap="none" strike="noStrike">
                <a:solidFill>
                  <a:srgbClr val="FFFFFF"/>
                </a:solidFill>
                <a:latin typeface="Arial"/>
                <a:ea typeface="Arial"/>
                <a:cs typeface="Arial"/>
                <a:sym typeface="Arial"/>
              </a:rPr>
              <a:t>Cost of the status quo: reviewers re-read policy per claim, not once per change.</a:t>
            </a:r>
            <a:endParaRPr b="0" i="0" sz="1100" u="none" cap="none" strike="noStrike">
              <a:solidFill>
                <a:schemeClr val="dk1"/>
              </a:solidFill>
              <a:latin typeface="Arial"/>
              <a:ea typeface="Arial"/>
              <a:cs typeface="Arial"/>
              <a:sym typeface="Arial"/>
            </a:endParaRPr>
          </a:p>
        </p:txBody>
      </p:sp>
      <p:sp>
        <p:nvSpPr>
          <p:cNvPr id="93" name="Google Shape;93;p17"/>
          <p:cNvSpPr/>
          <p:nvPr/>
        </p:nvSpPr>
        <p:spPr>
          <a:xfrm>
            <a:off x="342900" y="4780026"/>
            <a:ext cx="7475220" cy="1577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600"/>
              <a:buFont typeface="Arial"/>
              <a:buNone/>
            </a:pPr>
            <a:r>
              <a:rPr b="0" i="0" lang="en" sz="600" u="none" cap="none" strike="noStrike">
                <a:solidFill>
                  <a:srgbClr val="667085"/>
                </a:solidFill>
                <a:latin typeface="Arial"/>
                <a:ea typeface="Arial"/>
                <a:cs typeface="Arial"/>
                <a:sym typeface="Arial"/>
              </a:rPr>
              <a:t>POC purpose from revised paper: recover specified changes, automate only structurally decidable cases, abstain when clinical judgment is required.</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18"/>
          <p:cNvSpPr/>
          <p:nvPr/>
        </p:nvSpPr>
        <p:spPr>
          <a:xfrm>
            <a:off x="0" y="0"/>
            <a:ext cx="9143771" cy="68580"/>
          </a:xfrm>
          <a:prstGeom prst="rect">
            <a:avLst/>
          </a:prstGeom>
          <a:solidFill>
            <a:srgbClr val="0E8F8F"/>
          </a:solidFill>
          <a:ln cap="flat" cmpd="sng" w="1270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 name="Google Shape;100;p18"/>
          <p:cNvSpPr/>
          <p:nvPr/>
        </p:nvSpPr>
        <p:spPr>
          <a:xfrm>
            <a:off x="329184" y="178308"/>
            <a:ext cx="15087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700"/>
              <a:buFont typeface="Arial"/>
              <a:buNone/>
            </a:pPr>
            <a:r>
              <a:rPr b="1" i="0" lang="en" sz="700" u="none" cap="none" strike="noStrike">
                <a:solidFill>
                  <a:srgbClr val="0E8F8F"/>
                </a:solidFill>
                <a:latin typeface="Arial"/>
                <a:ea typeface="Arial"/>
                <a:cs typeface="Arial"/>
                <a:sym typeface="Arial"/>
              </a:rPr>
              <a:t>PROBLEM</a:t>
            </a:r>
            <a:endParaRPr b="0" i="0" sz="700" u="none" cap="none" strike="noStrike">
              <a:solidFill>
                <a:schemeClr val="dk1"/>
              </a:solidFill>
              <a:latin typeface="Arial"/>
              <a:ea typeface="Arial"/>
              <a:cs typeface="Arial"/>
              <a:sym typeface="Arial"/>
            </a:endParaRPr>
          </a:p>
        </p:txBody>
      </p:sp>
      <p:sp>
        <p:nvSpPr>
          <p:cNvPr id="101" name="Google Shape;101;p18"/>
          <p:cNvSpPr/>
          <p:nvPr/>
        </p:nvSpPr>
        <p:spPr>
          <a:xfrm>
            <a:off x="8366760" y="4786884"/>
            <a:ext cx="377190" cy="17145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00"/>
              <a:buFont typeface="Arial"/>
              <a:buNone/>
            </a:pPr>
            <a:r>
              <a:rPr b="0" i="0" lang="en" sz="700" u="none" cap="none" strike="noStrike">
                <a:solidFill>
                  <a:srgbClr val="667085"/>
                </a:solidFill>
                <a:latin typeface="Arial"/>
                <a:ea typeface="Arial"/>
                <a:cs typeface="Arial"/>
                <a:sym typeface="Arial"/>
              </a:rPr>
              <a:t>03</a:t>
            </a:r>
            <a:endParaRPr b="0" i="0" sz="700" u="none" cap="none" strike="noStrike">
              <a:solidFill>
                <a:schemeClr val="dk1"/>
              </a:solidFill>
              <a:latin typeface="Arial"/>
              <a:ea typeface="Arial"/>
              <a:cs typeface="Arial"/>
              <a:sym typeface="Arial"/>
            </a:endParaRPr>
          </a:p>
        </p:txBody>
      </p:sp>
      <p:cxnSp>
        <p:nvCxnSpPr>
          <p:cNvPr id="102" name="Google Shape;102;p18"/>
          <p:cNvCxnSpPr/>
          <p:nvPr/>
        </p:nvCxnSpPr>
        <p:spPr>
          <a:xfrm>
            <a:off x="329184" y="4704588"/>
            <a:ext cx="8469630" cy="0"/>
          </a:xfrm>
          <a:prstGeom prst="straightConnector1">
            <a:avLst/>
          </a:prstGeom>
          <a:noFill/>
          <a:ln cap="flat" cmpd="sng" w="9525">
            <a:solidFill>
              <a:srgbClr val="D7DEE5"/>
            </a:solidFill>
            <a:prstDash val="solid"/>
            <a:round/>
            <a:headEnd len="sm" w="sm" type="none"/>
            <a:tailEnd len="sm" w="sm" type="none"/>
          </a:ln>
        </p:spPr>
      </p:cxnSp>
      <p:sp>
        <p:nvSpPr>
          <p:cNvPr id="103" name="Google Shape;103;p18"/>
          <p:cNvSpPr/>
          <p:nvPr/>
        </p:nvSpPr>
        <p:spPr>
          <a:xfrm>
            <a:off x="329184" y="438912"/>
            <a:ext cx="6035040" cy="3429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0B1F33"/>
              </a:buClr>
              <a:buSzPts val="1900"/>
              <a:buFont typeface="Arial"/>
              <a:buNone/>
            </a:pPr>
            <a:r>
              <a:rPr b="1" i="0" lang="en" sz="1900" u="none" cap="none" strike="noStrike">
                <a:solidFill>
                  <a:srgbClr val="0B1F33"/>
                </a:solidFill>
                <a:latin typeface="Arial"/>
                <a:ea typeface="Arial"/>
                <a:cs typeface="Arial"/>
                <a:sym typeface="Arial"/>
              </a:rPr>
              <a:t>Grounded in CMS sources, not fictional policy</a:t>
            </a:r>
            <a:endParaRPr b="0" i="0" sz="1900" u="none" cap="none" strike="noStrike">
              <a:solidFill>
                <a:schemeClr val="dk1"/>
              </a:solidFill>
              <a:latin typeface="Arial"/>
              <a:ea typeface="Arial"/>
              <a:cs typeface="Arial"/>
              <a:sym typeface="Arial"/>
            </a:endParaRPr>
          </a:p>
        </p:txBody>
      </p:sp>
      <p:sp>
        <p:nvSpPr>
          <p:cNvPr id="104" name="Google Shape;104;p18"/>
          <p:cNvSpPr/>
          <p:nvPr/>
        </p:nvSpPr>
        <p:spPr>
          <a:xfrm>
            <a:off x="342900" y="809244"/>
            <a:ext cx="65151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en" sz="900" u="none" cap="none" strike="noStrike">
                <a:solidFill>
                  <a:srgbClr val="667085"/>
                </a:solidFill>
                <a:latin typeface="Arial"/>
                <a:ea typeface="Arial"/>
                <a:cs typeface="Arial"/>
                <a:sym typeface="Arial"/>
              </a:rPr>
              <a:t>The demo uses public first-party sources, concise paraphrases, and synthetic claims.</a:t>
            </a:r>
            <a:endParaRPr b="0" i="0" sz="900" u="none" cap="none" strike="noStrike">
              <a:solidFill>
                <a:schemeClr val="dk1"/>
              </a:solidFill>
              <a:latin typeface="Arial"/>
              <a:ea typeface="Arial"/>
              <a:cs typeface="Arial"/>
              <a:sym typeface="Arial"/>
            </a:endParaRPr>
          </a:p>
        </p:txBody>
      </p:sp>
      <p:sp>
        <p:nvSpPr>
          <p:cNvPr id="105" name="Google Shape;105;p18"/>
          <p:cNvSpPr/>
          <p:nvPr/>
        </p:nvSpPr>
        <p:spPr>
          <a:xfrm>
            <a:off x="425196" y="1138428"/>
            <a:ext cx="2366010" cy="301752"/>
          </a:xfrm>
          <a:prstGeom prst="rect">
            <a:avLst/>
          </a:prstGeom>
          <a:solidFill>
            <a:srgbClr val="0B1F33"/>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FFFFFF"/>
              </a:buClr>
              <a:buSzPts val="800"/>
              <a:buFont typeface="Arial"/>
              <a:buNone/>
            </a:pPr>
            <a:r>
              <a:rPr b="1" i="0" lang="en" sz="800" u="none" cap="none" strike="noStrike">
                <a:solidFill>
                  <a:srgbClr val="FFFFFF"/>
                </a:solidFill>
                <a:latin typeface="Arial"/>
                <a:ea typeface="Arial"/>
                <a:cs typeface="Arial"/>
                <a:sym typeface="Arial"/>
              </a:rPr>
              <a:t>Source</a:t>
            </a:r>
            <a:endParaRPr b="0" i="0" sz="800" u="none" cap="none" strike="noStrike">
              <a:solidFill>
                <a:schemeClr val="dk1"/>
              </a:solidFill>
              <a:latin typeface="Arial"/>
              <a:ea typeface="Arial"/>
              <a:cs typeface="Arial"/>
              <a:sym typeface="Arial"/>
            </a:endParaRPr>
          </a:p>
        </p:txBody>
      </p:sp>
      <p:sp>
        <p:nvSpPr>
          <p:cNvPr id="106" name="Google Shape;106;p18"/>
          <p:cNvSpPr/>
          <p:nvPr/>
        </p:nvSpPr>
        <p:spPr>
          <a:xfrm>
            <a:off x="2791206" y="1138428"/>
            <a:ext cx="3017520" cy="301752"/>
          </a:xfrm>
          <a:prstGeom prst="rect">
            <a:avLst/>
          </a:prstGeom>
          <a:solidFill>
            <a:srgbClr val="0B1F33"/>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FFFFFF"/>
              </a:buClr>
              <a:buSzPts val="800"/>
              <a:buFont typeface="Arial"/>
              <a:buNone/>
            </a:pPr>
            <a:r>
              <a:rPr b="1" i="0" lang="en" sz="800" u="none" cap="none" strike="noStrike">
                <a:solidFill>
                  <a:srgbClr val="FFFFFF"/>
                </a:solidFill>
                <a:latin typeface="Arial"/>
                <a:ea typeface="Arial"/>
                <a:cs typeface="Arial"/>
                <a:sym typeface="Arial"/>
              </a:rPr>
              <a:t>What changed</a:t>
            </a:r>
            <a:endParaRPr b="0" i="0" sz="800" u="none" cap="none" strike="noStrike">
              <a:solidFill>
                <a:schemeClr val="dk1"/>
              </a:solidFill>
              <a:latin typeface="Arial"/>
              <a:ea typeface="Arial"/>
              <a:cs typeface="Arial"/>
              <a:sym typeface="Arial"/>
            </a:endParaRPr>
          </a:p>
        </p:txBody>
      </p:sp>
      <p:sp>
        <p:nvSpPr>
          <p:cNvPr id="107" name="Google Shape;107;p18"/>
          <p:cNvSpPr/>
          <p:nvPr/>
        </p:nvSpPr>
        <p:spPr>
          <a:xfrm>
            <a:off x="5808726" y="1138428"/>
            <a:ext cx="2914650" cy="301752"/>
          </a:xfrm>
          <a:prstGeom prst="rect">
            <a:avLst/>
          </a:prstGeom>
          <a:solidFill>
            <a:srgbClr val="0B1F33"/>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FFFFFF"/>
              </a:buClr>
              <a:buSzPts val="800"/>
              <a:buFont typeface="Arial"/>
              <a:buNone/>
            </a:pPr>
            <a:r>
              <a:rPr b="1" i="0" lang="en" sz="800" u="none" cap="none" strike="noStrike">
                <a:solidFill>
                  <a:srgbClr val="FFFFFF"/>
                </a:solidFill>
                <a:latin typeface="Arial"/>
                <a:ea typeface="Arial"/>
                <a:cs typeface="Arial"/>
                <a:sym typeface="Arial"/>
              </a:rPr>
              <a:t>How PolicyGuard used it</a:t>
            </a:r>
            <a:endParaRPr b="0" i="0" sz="800" u="none" cap="none" strike="noStrike">
              <a:solidFill>
                <a:schemeClr val="dk1"/>
              </a:solidFill>
              <a:latin typeface="Arial"/>
              <a:ea typeface="Arial"/>
              <a:cs typeface="Arial"/>
              <a:sym typeface="Arial"/>
            </a:endParaRPr>
          </a:p>
        </p:txBody>
      </p:sp>
      <p:sp>
        <p:nvSpPr>
          <p:cNvPr id="108" name="Google Shape;108;p18"/>
          <p:cNvSpPr/>
          <p:nvPr/>
        </p:nvSpPr>
        <p:spPr>
          <a:xfrm>
            <a:off x="425196" y="1440180"/>
            <a:ext cx="2366010" cy="562356"/>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CMS Medicare NCCI Policy Manual</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CY 2025 vs CY 2026</a:t>
            </a:r>
            <a:endParaRPr b="0" i="0" sz="800" u="none" cap="none" strike="noStrike">
              <a:solidFill>
                <a:schemeClr val="dk1"/>
              </a:solidFill>
              <a:latin typeface="Arial"/>
              <a:ea typeface="Arial"/>
              <a:cs typeface="Arial"/>
              <a:sym typeface="Arial"/>
            </a:endParaRPr>
          </a:p>
        </p:txBody>
      </p:sp>
      <p:sp>
        <p:nvSpPr>
          <p:cNvPr id="109" name="Google Shape;109;p18"/>
          <p:cNvSpPr/>
          <p:nvPr/>
        </p:nvSpPr>
        <p:spPr>
          <a:xfrm>
            <a:off x="2791206" y="1440180"/>
            <a:ext cx="3017520" cy="562356"/>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CPT 94662 deleted effective Jan 1, 2026</a:t>
            </a:r>
            <a:endParaRPr b="0" i="0" sz="800" u="none" cap="none" strike="noStrike">
              <a:solidFill>
                <a:schemeClr val="dk1"/>
              </a:solidFill>
              <a:latin typeface="Arial"/>
              <a:ea typeface="Arial"/>
              <a:cs typeface="Arial"/>
              <a:sym typeface="Arial"/>
            </a:endParaRPr>
          </a:p>
        </p:txBody>
      </p:sp>
      <p:sp>
        <p:nvSpPr>
          <p:cNvPr id="110" name="Google Shape;110;p18"/>
          <p:cNvSpPr/>
          <p:nvPr/>
        </p:nvSpPr>
        <p:spPr>
          <a:xfrm>
            <a:off x="5808726" y="1440180"/>
            <a:ext cx="2914650" cy="562356"/>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Code-retirement rule → coding-configuration review</a:t>
            </a:r>
            <a:endParaRPr b="0" i="0" sz="800" u="none" cap="none" strike="noStrike">
              <a:solidFill>
                <a:schemeClr val="dk1"/>
              </a:solidFill>
              <a:latin typeface="Arial"/>
              <a:ea typeface="Arial"/>
              <a:cs typeface="Arial"/>
              <a:sym typeface="Arial"/>
            </a:endParaRPr>
          </a:p>
        </p:txBody>
      </p:sp>
      <p:sp>
        <p:nvSpPr>
          <p:cNvPr id="111" name="Google Shape;111;p18"/>
          <p:cNvSpPr/>
          <p:nvPr/>
        </p:nvSpPr>
        <p:spPr>
          <a:xfrm>
            <a:off x="425196" y="2002536"/>
            <a:ext cx="2366010" cy="685800"/>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CMS MPFS CR MM14315</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CY 2026</a:t>
            </a:r>
            <a:endParaRPr b="0" i="0" sz="800" u="none" cap="none" strike="noStrike">
              <a:solidFill>
                <a:schemeClr val="dk1"/>
              </a:solidFill>
              <a:latin typeface="Arial"/>
              <a:ea typeface="Arial"/>
              <a:cs typeface="Arial"/>
              <a:sym typeface="Arial"/>
            </a:endParaRPr>
          </a:p>
        </p:txBody>
      </p:sp>
      <p:sp>
        <p:nvSpPr>
          <p:cNvPr id="112" name="Google Shape;112;p18"/>
          <p:cNvSpPr/>
          <p:nvPr/>
        </p:nvSpPr>
        <p:spPr>
          <a:xfrm>
            <a:off x="2791206" y="2002536"/>
            <a:ext cx="3017520" cy="685800"/>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Therapy KX threshold $2,410 → $2,480</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Q3014 facility fee $31.01 → $31.85</a:t>
            </a:r>
            <a:endParaRPr b="0" i="0" sz="800" u="none" cap="none" strike="noStrike">
              <a:solidFill>
                <a:schemeClr val="dk1"/>
              </a:solidFill>
              <a:latin typeface="Arial"/>
              <a:ea typeface="Arial"/>
              <a:cs typeface="Arial"/>
              <a:sym typeface="Arial"/>
            </a:endParaRPr>
          </a:p>
        </p:txBody>
      </p:sp>
      <p:sp>
        <p:nvSpPr>
          <p:cNvPr id="113" name="Google Shape;113;p18"/>
          <p:cNvSpPr/>
          <p:nvPr/>
        </p:nvSpPr>
        <p:spPr>
          <a:xfrm>
            <a:off x="5808726" y="2002536"/>
            <a:ext cx="2914650" cy="685800"/>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Numeric threshold + fee-tolerance rules</a:t>
            </a:r>
            <a:endParaRPr b="0" i="0" sz="800" u="none" cap="none" strike="noStrike">
              <a:solidFill>
                <a:schemeClr val="dk1"/>
              </a:solidFill>
              <a:latin typeface="Arial"/>
              <a:ea typeface="Arial"/>
              <a:cs typeface="Arial"/>
              <a:sym typeface="Arial"/>
            </a:endParaRPr>
          </a:p>
        </p:txBody>
      </p:sp>
      <p:sp>
        <p:nvSpPr>
          <p:cNvPr id="114" name="Google Shape;114;p18"/>
          <p:cNvSpPr/>
          <p:nvPr/>
        </p:nvSpPr>
        <p:spPr>
          <a:xfrm>
            <a:off x="425196" y="2688336"/>
            <a:ext cx="2366010" cy="562356"/>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CMS Transmittal R13431CP</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2026 Therapy Code List</a:t>
            </a:r>
            <a:endParaRPr b="0" i="0" sz="800" u="none" cap="none" strike="noStrike">
              <a:solidFill>
                <a:schemeClr val="dk1"/>
              </a:solidFill>
              <a:latin typeface="Arial"/>
              <a:ea typeface="Arial"/>
              <a:cs typeface="Arial"/>
              <a:sym typeface="Arial"/>
            </a:endParaRPr>
          </a:p>
        </p:txBody>
      </p:sp>
      <p:sp>
        <p:nvSpPr>
          <p:cNvPr id="115" name="Google Shape;115;p18"/>
          <p:cNvSpPr/>
          <p:nvPr/>
        </p:nvSpPr>
        <p:spPr>
          <a:xfrm>
            <a:off x="2791206" y="2688336"/>
            <a:ext cx="3017520" cy="562356"/>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New RTM codes 98979, 98984, 98985</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(sometimes-therapy)</a:t>
            </a:r>
            <a:endParaRPr b="0" i="0" sz="800" u="none" cap="none" strike="noStrike">
              <a:solidFill>
                <a:schemeClr val="dk1"/>
              </a:solidFill>
              <a:latin typeface="Arial"/>
              <a:ea typeface="Arial"/>
              <a:cs typeface="Arial"/>
              <a:sym typeface="Arial"/>
            </a:endParaRPr>
          </a:p>
        </p:txBody>
      </p:sp>
      <p:sp>
        <p:nvSpPr>
          <p:cNvPr id="116" name="Google Shape;116;p18"/>
          <p:cNvSpPr/>
          <p:nvPr/>
        </p:nvSpPr>
        <p:spPr>
          <a:xfrm>
            <a:off x="5808726" y="2688336"/>
            <a:ext cx="2914650" cy="562356"/>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Mapping / configuration check</a:t>
            </a:r>
            <a:endParaRPr b="0" i="0" sz="800" u="none" cap="none" strike="noStrike">
              <a:solidFill>
                <a:schemeClr val="dk1"/>
              </a:solidFill>
              <a:latin typeface="Arial"/>
              <a:ea typeface="Arial"/>
              <a:cs typeface="Arial"/>
              <a:sym typeface="Arial"/>
            </a:endParaRPr>
          </a:p>
        </p:txBody>
      </p:sp>
      <p:sp>
        <p:nvSpPr>
          <p:cNvPr id="117" name="Google Shape;117;p18"/>
          <p:cNvSpPr/>
          <p:nvPr/>
        </p:nvSpPr>
        <p:spPr>
          <a:xfrm>
            <a:off x="425196" y="3250692"/>
            <a:ext cx="2366010" cy="493776"/>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CMS-style skilled therapy narrative</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(abstention case)</a:t>
            </a:r>
            <a:endParaRPr b="0" i="0" sz="800" u="none" cap="none" strike="noStrike">
              <a:solidFill>
                <a:schemeClr val="dk1"/>
              </a:solidFill>
              <a:latin typeface="Arial"/>
              <a:ea typeface="Arial"/>
              <a:cs typeface="Arial"/>
              <a:sym typeface="Arial"/>
            </a:endParaRPr>
          </a:p>
        </p:txBody>
      </p:sp>
      <p:sp>
        <p:nvSpPr>
          <p:cNvPr id="118" name="Google Shape;118;p18"/>
          <p:cNvSpPr/>
          <p:nvPr/>
        </p:nvSpPr>
        <p:spPr>
          <a:xfrm>
            <a:off x="2791206" y="3250692"/>
            <a:ext cx="3017520" cy="493776"/>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Clinical purpose cannot be inferred from claim fields alone</a:t>
            </a:r>
            <a:endParaRPr b="0" i="0" sz="800" u="none" cap="none" strike="noStrike">
              <a:solidFill>
                <a:schemeClr val="dk1"/>
              </a:solidFill>
              <a:latin typeface="Arial"/>
              <a:ea typeface="Arial"/>
              <a:cs typeface="Arial"/>
              <a:sym typeface="Arial"/>
            </a:endParaRPr>
          </a:p>
        </p:txBody>
      </p:sp>
      <p:sp>
        <p:nvSpPr>
          <p:cNvPr id="119" name="Google Shape;119;p18"/>
          <p:cNvSpPr/>
          <p:nvPr/>
        </p:nvSpPr>
        <p:spPr>
          <a:xfrm>
            <a:off x="5808726" y="3250692"/>
            <a:ext cx="2914650" cy="493776"/>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500" lIns="500" spcFirstLastPara="1" rIns="500" wrap="square" tIns="50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No rule generated; expert interpretation required</a:t>
            </a:r>
            <a:endParaRPr b="0" i="0" sz="800" u="none" cap="none" strike="noStrike">
              <a:solidFill>
                <a:schemeClr val="dk1"/>
              </a:solidFill>
              <a:latin typeface="Arial"/>
              <a:ea typeface="Arial"/>
              <a:cs typeface="Arial"/>
              <a:sym typeface="Arial"/>
            </a:endParaRPr>
          </a:p>
        </p:txBody>
      </p:sp>
      <p:sp>
        <p:nvSpPr>
          <p:cNvPr id="120" name="Google Shape;120;p18"/>
          <p:cNvSpPr/>
          <p:nvPr/>
        </p:nvSpPr>
        <p:spPr>
          <a:xfrm>
            <a:off x="425196" y="4005072"/>
            <a:ext cx="8298180" cy="356616"/>
          </a:xfrm>
          <a:prstGeom prst="rect">
            <a:avLst/>
          </a:prstGeom>
          <a:solidFill>
            <a:srgbClr val="F1F5F8"/>
          </a:solidFill>
          <a:ln cap="flat" cmpd="sng" w="9525">
            <a:solidFill>
              <a:srgbClr val="D7DEE5"/>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263238"/>
              </a:buClr>
              <a:buSzPts val="1000"/>
              <a:buFont typeface="Arial"/>
              <a:buNone/>
            </a:pPr>
            <a:r>
              <a:rPr b="1" i="0" lang="en" sz="1000" u="none" cap="none" strike="noStrike">
                <a:solidFill>
                  <a:srgbClr val="263238"/>
                </a:solidFill>
                <a:latin typeface="Arial"/>
                <a:ea typeface="Arial"/>
                <a:cs typeface="Arial"/>
                <a:sym typeface="Arial"/>
              </a:rPr>
              <a:t>Repository stores metadata + short paraphrases, not full manuals or licensed CPT text. Claims: 604 synthetic rows, no PHI.</a:t>
            </a:r>
            <a:endParaRPr b="0" i="0" sz="1000" u="none" cap="none" strike="noStrike">
              <a:solidFill>
                <a:schemeClr val="dk1"/>
              </a:solidFill>
              <a:latin typeface="Arial"/>
              <a:ea typeface="Arial"/>
              <a:cs typeface="Arial"/>
              <a:sym typeface="Arial"/>
            </a:endParaRPr>
          </a:p>
        </p:txBody>
      </p:sp>
      <p:sp>
        <p:nvSpPr>
          <p:cNvPr id="121" name="Google Shape;121;p18"/>
          <p:cNvSpPr/>
          <p:nvPr/>
        </p:nvSpPr>
        <p:spPr>
          <a:xfrm>
            <a:off x="342900" y="4780026"/>
            <a:ext cx="7475220" cy="1577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600"/>
              <a:buFont typeface="Arial"/>
              <a:buNone/>
            </a:pPr>
            <a:r>
              <a:rPr b="0" i="0" lang="en" sz="600" u="none" cap="none" strike="noStrike">
                <a:solidFill>
                  <a:srgbClr val="667085"/>
                </a:solidFill>
                <a:latin typeface="Arial"/>
                <a:ea typeface="Arial"/>
                <a:cs typeface="Arial"/>
                <a:sym typeface="Arial"/>
              </a:rPr>
              <a:t>Paper references CMS sources and repository source governance; CMS-style narrative is an abstention scenario, not a CMS data source.</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19"/>
          <p:cNvSpPr/>
          <p:nvPr/>
        </p:nvSpPr>
        <p:spPr>
          <a:xfrm>
            <a:off x="0" y="0"/>
            <a:ext cx="9143771" cy="68580"/>
          </a:xfrm>
          <a:prstGeom prst="rect">
            <a:avLst/>
          </a:prstGeom>
          <a:solidFill>
            <a:srgbClr val="0E8F8F"/>
          </a:solidFill>
          <a:ln cap="flat" cmpd="sng" w="1270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9"/>
          <p:cNvSpPr/>
          <p:nvPr/>
        </p:nvSpPr>
        <p:spPr>
          <a:xfrm>
            <a:off x="329184" y="178308"/>
            <a:ext cx="15087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700"/>
              <a:buFont typeface="Arial"/>
              <a:buNone/>
            </a:pPr>
            <a:r>
              <a:rPr b="1" i="0" lang="en" sz="700" u="none" cap="none" strike="noStrike">
                <a:solidFill>
                  <a:srgbClr val="0E8F8F"/>
                </a:solidFill>
                <a:latin typeface="Arial"/>
                <a:ea typeface="Arial"/>
                <a:cs typeface="Arial"/>
                <a:sym typeface="Arial"/>
              </a:rPr>
              <a:t>METHOD</a:t>
            </a:r>
            <a:endParaRPr b="0" i="0" sz="700" u="none" cap="none" strike="noStrike">
              <a:solidFill>
                <a:schemeClr val="dk1"/>
              </a:solidFill>
              <a:latin typeface="Arial"/>
              <a:ea typeface="Arial"/>
              <a:cs typeface="Arial"/>
              <a:sym typeface="Arial"/>
            </a:endParaRPr>
          </a:p>
        </p:txBody>
      </p:sp>
      <p:sp>
        <p:nvSpPr>
          <p:cNvPr id="129" name="Google Shape;129;p19"/>
          <p:cNvSpPr/>
          <p:nvPr/>
        </p:nvSpPr>
        <p:spPr>
          <a:xfrm>
            <a:off x="8366760" y="4786884"/>
            <a:ext cx="377190" cy="17145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00"/>
              <a:buFont typeface="Arial"/>
              <a:buNone/>
            </a:pPr>
            <a:r>
              <a:rPr b="0" i="0" lang="en" sz="700" u="none" cap="none" strike="noStrike">
                <a:solidFill>
                  <a:srgbClr val="667085"/>
                </a:solidFill>
                <a:latin typeface="Arial"/>
                <a:ea typeface="Arial"/>
                <a:cs typeface="Arial"/>
                <a:sym typeface="Arial"/>
              </a:rPr>
              <a:t>04</a:t>
            </a:r>
            <a:endParaRPr b="0" i="0" sz="700" u="none" cap="none" strike="noStrike">
              <a:solidFill>
                <a:schemeClr val="dk1"/>
              </a:solidFill>
              <a:latin typeface="Arial"/>
              <a:ea typeface="Arial"/>
              <a:cs typeface="Arial"/>
              <a:sym typeface="Arial"/>
            </a:endParaRPr>
          </a:p>
        </p:txBody>
      </p:sp>
      <p:cxnSp>
        <p:nvCxnSpPr>
          <p:cNvPr id="130" name="Google Shape;130;p19"/>
          <p:cNvCxnSpPr/>
          <p:nvPr/>
        </p:nvCxnSpPr>
        <p:spPr>
          <a:xfrm>
            <a:off x="329184" y="4704588"/>
            <a:ext cx="8469630" cy="0"/>
          </a:xfrm>
          <a:prstGeom prst="straightConnector1">
            <a:avLst/>
          </a:prstGeom>
          <a:noFill/>
          <a:ln cap="flat" cmpd="sng" w="9525">
            <a:solidFill>
              <a:srgbClr val="D7DEE5"/>
            </a:solidFill>
            <a:prstDash val="solid"/>
            <a:round/>
            <a:headEnd len="sm" w="sm" type="none"/>
            <a:tailEnd len="sm" w="sm" type="none"/>
          </a:ln>
        </p:spPr>
      </p:cxnSp>
      <p:sp>
        <p:nvSpPr>
          <p:cNvPr id="131" name="Google Shape;131;p19"/>
          <p:cNvSpPr/>
          <p:nvPr/>
        </p:nvSpPr>
        <p:spPr>
          <a:xfrm>
            <a:off x="329184" y="438912"/>
            <a:ext cx="6035040" cy="3429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0B1F33"/>
              </a:buClr>
              <a:buSzPts val="1900"/>
              <a:buFont typeface="Arial"/>
              <a:buNone/>
            </a:pPr>
            <a:r>
              <a:rPr b="1" i="0" lang="en" sz="1900" u="none" cap="none" strike="noStrike">
                <a:solidFill>
                  <a:srgbClr val="0B1F33"/>
                </a:solidFill>
                <a:latin typeface="Arial"/>
                <a:ea typeface="Arial"/>
                <a:cs typeface="Arial"/>
                <a:sym typeface="Arial"/>
              </a:rPr>
              <a:t>Interpret once, then route evidence</a:t>
            </a:r>
            <a:endParaRPr b="0" i="0" sz="1900" u="none" cap="none" strike="noStrike">
              <a:solidFill>
                <a:schemeClr val="dk1"/>
              </a:solidFill>
              <a:latin typeface="Arial"/>
              <a:ea typeface="Arial"/>
              <a:cs typeface="Arial"/>
              <a:sym typeface="Arial"/>
            </a:endParaRPr>
          </a:p>
        </p:txBody>
      </p:sp>
      <p:sp>
        <p:nvSpPr>
          <p:cNvPr id="132" name="Google Shape;132;p19"/>
          <p:cNvSpPr/>
          <p:nvPr/>
        </p:nvSpPr>
        <p:spPr>
          <a:xfrm>
            <a:off x="342900" y="809244"/>
            <a:ext cx="65151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en" sz="900" u="none" cap="none" strike="noStrike">
                <a:solidFill>
                  <a:srgbClr val="667085"/>
                </a:solidFill>
                <a:latin typeface="Arial"/>
                <a:ea typeface="Arial"/>
                <a:cs typeface="Arial"/>
                <a:sym typeface="Arial"/>
              </a:rPr>
              <a:t>PolicyOps flow: old/new policy text becomes one evidence packet and one human gate.</a:t>
            </a:r>
            <a:endParaRPr b="0" i="0" sz="900" u="none" cap="none" strike="noStrike">
              <a:solidFill>
                <a:schemeClr val="dk1"/>
              </a:solidFill>
              <a:latin typeface="Arial"/>
              <a:ea typeface="Arial"/>
              <a:cs typeface="Arial"/>
              <a:sym typeface="Arial"/>
            </a:endParaRPr>
          </a:p>
        </p:txBody>
      </p:sp>
      <p:cxnSp>
        <p:nvCxnSpPr>
          <p:cNvPr id="133" name="Google Shape;133;p19"/>
          <p:cNvCxnSpPr/>
          <p:nvPr/>
        </p:nvCxnSpPr>
        <p:spPr>
          <a:xfrm>
            <a:off x="1460754" y="1714500"/>
            <a:ext cx="514350" cy="0"/>
          </a:xfrm>
          <a:prstGeom prst="straightConnector1">
            <a:avLst/>
          </a:prstGeom>
          <a:noFill/>
          <a:ln cap="flat" cmpd="sng" w="25400">
            <a:solidFill>
              <a:srgbClr val="0E8F8F"/>
            </a:solidFill>
            <a:prstDash val="solid"/>
            <a:round/>
            <a:headEnd len="sm" w="sm" type="none"/>
            <a:tailEnd len="med" w="med" type="triangle"/>
          </a:ln>
        </p:spPr>
      </p:cxnSp>
      <p:cxnSp>
        <p:nvCxnSpPr>
          <p:cNvPr id="134" name="Google Shape;134;p19"/>
          <p:cNvCxnSpPr/>
          <p:nvPr/>
        </p:nvCxnSpPr>
        <p:spPr>
          <a:xfrm>
            <a:off x="3038094" y="1714500"/>
            <a:ext cx="514350" cy="0"/>
          </a:xfrm>
          <a:prstGeom prst="straightConnector1">
            <a:avLst/>
          </a:prstGeom>
          <a:noFill/>
          <a:ln cap="flat" cmpd="sng" w="25400">
            <a:solidFill>
              <a:srgbClr val="0E8F8F"/>
            </a:solidFill>
            <a:prstDash val="solid"/>
            <a:round/>
            <a:headEnd len="sm" w="sm" type="none"/>
            <a:tailEnd len="med" w="med" type="triangle"/>
          </a:ln>
        </p:spPr>
      </p:cxnSp>
      <p:cxnSp>
        <p:nvCxnSpPr>
          <p:cNvPr id="135" name="Google Shape;135;p19"/>
          <p:cNvCxnSpPr/>
          <p:nvPr/>
        </p:nvCxnSpPr>
        <p:spPr>
          <a:xfrm>
            <a:off x="4615434" y="1714500"/>
            <a:ext cx="514350" cy="0"/>
          </a:xfrm>
          <a:prstGeom prst="straightConnector1">
            <a:avLst/>
          </a:prstGeom>
          <a:noFill/>
          <a:ln cap="flat" cmpd="sng" w="25400">
            <a:solidFill>
              <a:srgbClr val="0E8F8F"/>
            </a:solidFill>
            <a:prstDash val="solid"/>
            <a:round/>
            <a:headEnd len="sm" w="sm" type="none"/>
            <a:tailEnd len="med" w="med" type="triangle"/>
          </a:ln>
        </p:spPr>
      </p:cxnSp>
      <p:cxnSp>
        <p:nvCxnSpPr>
          <p:cNvPr id="136" name="Google Shape;136;p19"/>
          <p:cNvCxnSpPr/>
          <p:nvPr/>
        </p:nvCxnSpPr>
        <p:spPr>
          <a:xfrm>
            <a:off x="6192774" y="1714500"/>
            <a:ext cx="514350" cy="0"/>
          </a:xfrm>
          <a:prstGeom prst="straightConnector1">
            <a:avLst/>
          </a:prstGeom>
          <a:noFill/>
          <a:ln cap="flat" cmpd="sng" w="25400">
            <a:solidFill>
              <a:srgbClr val="0E8F8F"/>
            </a:solidFill>
            <a:prstDash val="solid"/>
            <a:round/>
            <a:headEnd len="sm" w="sm" type="none"/>
            <a:tailEnd len="med" w="med" type="triangle"/>
          </a:ln>
        </p:spPr>
      </p:cxnSp>
      <p:sp>
        <p:nvSpPr>
          <p:cNvPr id="137" name="Google Shape;137;p19"/>
          <p:cNvSpPr/>
          <p:nvPr/>
        </p:nvSpPr>
        <p:spPr>
          <a:xfrm>
            <a:off x="514350" y="1405890"/>
            <a:ext cx="1062990" cy="603504"/>
          </a:xfrm>
          <a:prstGeom prst="rect">
            <a:avLst/>
          </a:prstGeom>
          <a:solidFill>
            <a:srgbClr val="F7F9FB"/>
          </a:solidFill>
          <a:ln cap="flat" cmpd="sng" w="9525">
            <a:solidFill>
              <a:srgbClr val="D7DEE5"/>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0B1F33"/>
              </a:buClr>
              <a:buSzPts val="1200"/>
              <a:buFont typeface="Arial"/>
              <a:buNone/>
            </a:pPr>
            <a:r>
              <a:rPr b="1" i="0" lang="en" sz="1200" u="none" cap="none" strike="noStrike">
                <a:solidFill>
                  <a:srgbClr val="0B1F33"/>
                </a:solidFill>
                <a:latin typeface="Arial"/>
                <a:ea typeface="Arial"/>
                <a:cs typeface="Arial"/>
                <a:sym typeface="Arial"/>
              </a:rPr>
              <a:t>Compare</a:t>
            </a:r>
            <a:endParaRPr b="0" i="0" sz="12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B1F33"/>
              </a:buClr>
              <a:buSzPts val="1200"/>
              <a:buFont typeface="Arial"/>
              <a:buNone/>
            </a:pPr>
            <a:r>
              <a:rPr b="1" i="0" lang="en" sz="1200" u="none" cap="none" strike="noStrike">
                <a:solidFill>
                  <a:srgbClr val="0B1F33"/>
                </a:solidFill>
                <a:latin typeface="Arial"/>
                <a:ea typeface="Arial"/>
                <a:cs typeface="Arial"/>
                <a:sym typeface="Arial"/>
              </a:rPr>
              <a:t>versions</a:t>
            </a:r>
            <a:endParaRPr b="0" i="0" sz="1200" u="none" cap="none" strike="noStrike">
              <a:solidFill>
                <a:schemeClr val="dk1"/>
              </a:solidFill>
              <a:latin typeface="Arial"/>
              <a:ea typeface="Arial"/>
              <a:cs typeface="Arial"/>
              <a:sym typeface="Arial"/>
            </a:endParaRPr>
          </a:p>
        </p:txBody>
      </p:sp>
      <p:sp>
        <p:nvSpPr>
          <p:cNvPr id="138" name="Google Shape;138;p19"/>
          <p:cNvSpPr/>
          <p:nvPr/>
        </p:nvSpPr>
        <p:spPr>
          <a:xfrm>
            <a:off x="2091690" y="1405890"/>
            <a:ext cx="1062990" cy="603504"/>
          </a:xfrm>
          <a:prstGeom prst="rect">
            <a:avLst/>
          </a:prstGeom>
          <a:solidFill>
            <a:srgbClr val="F7F9FB"/>
          </a:solidFill>
          <a:ln cap="flat" cmpd="sng" w="9525">
            <a:solidFill>
              <a:srgbClr val="D7DEE5"/>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0B1F33"/>
              </a:buClr>
              <a:buSzPts val="1200"/>
              <a:buFont typeface="Arial"/>
              <a:buNone/>
            </a:pPr>
            <a:r>
              <a:rPr b="1" i="0" lang="en" sz="1200" u="none" cap="none" strike="noStrike">
                <a:solidFill>
                  <a:srgbClr val="0B1F33"/>
                </a:solidFill>
                <a:latin typeface="Arial"/>
                <a:ea typeface="Arial"/>
                <a:cs typeface="Arial"/>
                <a:sym typeface="Arial"/>
              </a:rPr>
              <a:t>Extract</a:t>
            </a:r>
            <a:endParaRPr b="0" i="0" sz="12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B1F33"/>
              </a:buClr>
              <a:buSzPts val="1200"/>
              <a:buFont typeface="Arial"/>
              <a:buNone/>
            </a:pPr>
            <a:r>
              <a:rPr b="1" i="0" lang="en" sz="1200" u="none" cap="none" strike="noStrike">
                <a:solidFill>
                  <a:srgbClr val="0B1F33"/>
                </a:solidFill>
                <a:latin typeface="Arial"/>
                <a:ea typeface="Arial"/>
                <a:cs typeface="Arial"/>
                <a:sym typeface="Arial"/>
              </a:rPr>
              <a:t>evidence</a:t>
            </a:r>
            <a:endParaRPr b="0" i="0" sz="1200" u="none" cap="none" strike="noStrike">
              <a:solidFill>
                <a:schemeClr val="dk1"/>
              </a:solidFill>
              <a:latin typeface="Arial"/>
              <a:ea typeface="Arial"/>
              <a:cs typeface="Arial"/>
              <a:sym typeface="Arial"/>
            </a:endParaRPr>
          </a:p>
        </p:txBody>
      </p:sp>
      <p:sp>
        <p:nvSpPr>
          <p:cNvPr id="139" name="Google Shape;139;p19"/>
          <p:cNvSpPr/>
          <p:nvPr/>
        </p:nvSpPr>
        <p:spPr>
          <a:xfrm>
            <a:off x="3669030" y="1405890"/>
            <a:ext cx="1062990" cy="603504"/>
          </a:xfrm>
          <a:prstGeom prst="rect">
            <a:avLst/>
          </a:prstGeom>
          <a:solidFill>
            <a:srgbClr val="0E8F8F"/>
          </a:solidFill>
          <a:ln cap="flat" cmpd="sng" w="9525">
            <a:solidFill>
              <a:srgbClr val="0E8F8F"/>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Rule or</a:t>
            </a:r>
            <a:endParaRPr b="0" i="0" sz="12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abstain</a:t>
            </a:r>
            <a:endParaRPr b="0" i="0" sz="1200" u="none" cap="none" strike="noStrike">
              <a:solidFill>
                <a:schemeClr val="dk1"/>
              </a:solidFill>
              <a:latin typeface="Arial"/>
              <a:ea typeface="Arial"/>
              <a:cs typeface="Arial"/>
              <a:sym typeface="Arial"/>
            </a:endParaRPr>
          </a:p>
        </p:txBody>
      </p:sp>
      <p:sp>
        <p:nvSpPr>
          <p:cNvPr id="140" name="Google Shape;140;p19"/>
          <p:cNvSpPr/>
          <p:nvPr/>
        </p:nvSpPr>
        <p:spPr>
          <a:xfrm>
            <a:off x="5246370" y="1405890"/>
            <a:ext cx="1062990" cy="603504"/>
          </a:xfrm>
          <a:prstGeom prst="rect">
            <a:avLst/>
          </a:prstGeom>
          <a:solidFill>
            <a:srgbClr val="F7F9FB"/>
          </a:solidFill>
          <a:ln cap="flat" cmpd="sng" w="9525">
            <a:solidFill>
              <a:srgbClr val="D7DEE5"/>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0B1F33"/>
              </a:buClr>
              <a:buSzPts val="1200"/>
              <a:buFont typeface="Arial"/>
              <a:buNone/>
            </a:pPr>
            <a:r>
              <a:rPr b="1" i="0" lang="en" sz="1200" u="none" cap="none" strike="noStrike">
                <a:solidFill>
                  <a:srgbClr val="0B1F33"/>
                </a:solidFill>
                <a:latin typeface="Arial"/>
                <a:ea typeface="Arial"/>
                <a:cs typeface="Arial"/>
                <a:sym typeface="Arial"/>
              </a:rPr>
              <a:t>Dry-run</a:t>
            </a:r>
            <a:endParaRPr b="0" i="0" sz="12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B1F33"/>
              </a:buClr>
              <a:buSzPts val="1200"/>
              <a:buFont typeface="Arial"/>
              <a:buNone/>
            </a:pPr>
            <a:r>
              <a:rPr b="1" i="0" lang="en" sz="1200" u="none" cap="none" strike="noStrike">
                <a:solidFill>
                  <a:srgbClr val="0B1F33"/>
                </a:solidFill>
                <a:latin typeface="Arial"/>
                <a:ea typeface="Arial"/>
                <a:cs typeface="Arial"/>
                <a:sym typeface="Arial"/>
              </a:rPr>
              <a:t>impact</a:t>
            </a:r>
            <a:endParaRPr b="0" i="0" sz="1200" u="none" cap="none" strike="noStrike">
              <a:solidFill>
                <a:schemeClr val="dk1"/>
              </a:solidFill>
              <a:latin typeface="Arial"/>
              <a:ea typeface="Arial"/>
              <a:cs typeface="Arial"/>
              <a:sym typeface="Arial"/>
            </a:endParaRPr>
          </a:p>
        </p:txBody>
      </p:sp>
      <p:sp>
        <p:nvSpPr>
          <p:cNvPr id="141" name="Google Shape;141;p19"/>
          <p:cNvSpPr/>
          <p:nvPr/>
        </p:nvSpPr>
        <p:spPr>
          <a:xfrm>
            <a:off x="6823710" y="1405890"/>
            <a:ext cx="1062990" cy="603504"/>
          </a:xfrm>
          <a:prstGeom prst="rect">
            <a:avLst/>
          </a:prstGeom>
          <a:solidFill>
            <a:srgbClr val="F7F9FB"/>
          </a:solidFill>
          <a:ln cap="flat" cmpd="sng" w="9525">
            <a:solidFill>
              <a:srgbClr val="D7DEE5"/>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0B1F33"/>
              </a:buClr>
              <a:buSzPts val="1200"/>
              <a:buFont typeface="Arial"/>
              <a:buNone/>
            </a:pPr>
            <a:r>
              <a:rPr b="1" i="0" lang="en" sz="1200" u="none" cap="none" strike="noStrike">
                <a:solidFill>
                  <a:srgbClr val="0B1F33"/>
                </a:solidFill>
                <a:latin typeface="Arial"/>
                <a:ea typeface="Arial"/>
                <a:cs typeface="Arial"/>
                <a:sym typeface="Arial"/>
              </a:rPr>
              <a:t>Human</a:t>
            </a:r>
            <a:endParaRPr b="0" i="0" sz="12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B1F33"/>
              </a:buClr>
              <a:buSzPts val="1200"/>
              <a:buFont typeface="Arial"/>
              <a:buNone/>
            </a:pPr>
            <a:r>
              <a:rPr b="1" i="0" lang="en" sz="1200" u="none" cap="none" strike="noStrike">
                <a:solidFill>
                  <a:srgbClr val="0B1F33"/>
                </a:solidFill>
                <a:latin typeface="Arial"/>
                <a:ea typeface="Arial"/>
                <a:cs typeface="Arial"/>
                <a:sym typeface="Arial"/>
              </a:rPr>
              <a:t>decision</a:t>
            </a:r>
            <a:endParaRPr b="0" i="0" sz="1200" u="none" cap="none" strike="noStrike">
              <a:solidFill>
                <a:schemeClr val="dk1"/>
              </a:solidFill>
              <a:latin typeface="Arial"/>
              <a:ea typeface="Arial"/>
              <a:cs typeface="Arial"/>
              <a:sym typeface="Arial"/>
            </a:endParaRPr>
          </a:p>
        </p:txBody>
      </p:sp>
      <p:sp>
        <p:nvSpPr>
          <p:cNvPr id="142" name="Google Shape;142;p19"/>
          <p:cNvSpPr/>
          <p:nvPr/>
        </p:nvSpPr>
        <p:spPr>
          <a:xfrm>
            <a:off x="480060" y="2414016"/>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900"/>
              <a:buFont typeface="Arial"/>
              <a:buNone/>
            </a:pPr>
            <a:r>
              <a:rPr b="1" i="0" lang="en" sz="900" u="none" cap="none" strike="noStrike">
                <a:solidFill>
                  <a:srgbClr val="0E8F8F"/>
                </a:solidFill>
                <a:latin typeface="Arial"/>
                <a:ea typeface="Arial"/>
                <a:cs typeface="Arial"/>
                <a:sym typeface="Arial"/>
              </a:rPr>
              <a:t>Deterministic core</a:t>
            </a:r>
            <a:endParaRPr b="0" i="0" sz="900" u="none" cap="none" strike="noStrike">
              <a:solidFill>
                <a:schemeClr val="dk1"/>
              </a:solidFill>
              <a:latin typeface="Arial"/>
              <a:ea typeface="Arial"/>
              <a:cs typeface="Arial"/>
              <a:sym typeface="Arial"/>
            </a:endParaRPr>
          </a:p>
        </p:txBody>
      </p:sp>
      <p:sp>
        <p:nvSpPr>
          <p:cNvPr id="143" name="Google Shape;143;p19"/>
          <p:cNvSpPr/>
          <p:nvPr/>
        </p:nvSpPr>
        <p:spPr>
          <a:xfrm>
            <a:off x="480060" y="2660904"/>
            <a:ext cx="3854196" cy="788670"/>
          </a:xfrm>
          <a:prstGeom prst="rect">
            <a:avLst/>
          </a:prstGeom>
          <a:solidFill>
            <a:srgbClr val="F7F9FB"/>
          </a:solidFill>
          <a:ln cap="flat" cmpd="sng" w="9525">
            <a:solidFill>
              <a:srgbClr val="D7DEE5"/>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263238"/>
              </a:buClr>
              <a:buSzPts val="1000"/>
              <a:buFont typeface="Arial"/>
              <a:buNone/>
            </a:pPr>
            <a:r>
              <a:rPr b="0" i="0" lang="en" sz="1000" u="none" cap="none" strike="noStrike">
                <a:solidFill>
                  <a:srgbClr val="263238"/>
                </a:solidFill>
                <a:latin typeface="Arial"/>
                <a:ea typeface="Arial"/>
                <a:cs typeface="Arial"/>
                <a:sym typeface="Arial"/>
              </a:rPr>
              <a:t>TF-IDF unigram/bigram similarity + lexical sequence matching</a:t>
            </a:r>
            <a:endParaRPr b="0" i="0" sz="10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63238"/>
              </a:buClr>
              <a:buSzPts val="1000"/>
              <a:buFont typeface="Arial"/>
              <a:buNone/>
            </a:pPr>
            <a:r>
              <a:rPr b="0" i="0" lang="en" sz="1000" u="none" cap="none" strike="noStrike">
                <a:solidFill>
                  <a:srgbClr val="263238"/>
                </a:solidFill>
                <a:latin typeface="Arial"/>
                <a:ea typeface="Arial"/>
                <a:cs typeface="Arial"/>
                <a:sym typeface="Arial"/>
              </a:rPr>
              <a:t>Regex extraction for codes, dates, dollar values, modifiers, and percentages</a:t>
            </a:r>
            <a:endParaRPr b="0" i="0" sz="1000" u="none" cap="none" strike="noStrike">
              <a:solidFill>
                <a:schemeClr val="dk1"/>
              </a:solidFill>
              <a:latin typeface="Arial"/>
              <a:ea typeface="Arial"/>
              <a:cs typeface="Arial"/>
              <a:sym typeface="Arial"/>
            </a:endParaRPr>
          </a:p>
        </p:txBody>
      </p:sp>
      <p:sp>
        <p:nvSpPr>
          <p:cNvPr id="144" name="Google Shape;144;p19"/>
          <p:cNvSpPr/>
          <p:nvPr/>
        </p:nvSpPr>
        <p:spPr>
          <a:xfrm>
            <a:off x="4828032" y="2414016"/>
            <a:ext cx="22631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900"/>
              <a:buFont typeface="Arial"/>
              <a:buNone/>
            </a:pPr>
            <a:r>
              <a:rPr b="1" i="0" lang="en" sz="900" u="none" cap="none" strike="noStrike">
                <a:solidFill>
                  <a:srgbClr val="0E8F8F"/>
                </a:solidFill>
                <a:latin typeface="Arial"/>
                <a:ea typeface="Arial"/>
                <a:cs typeface="Arial"/>
                <a:sym typeface="Arial"/>
              </a:rPr>
              <a:t>Safety constraints</a:t>
            </a:r>
            <a:endParaRPr b="0" i="0" sz="900" u="none" cap="none" strike="noStrike">
              <a:solidFill>
                <a:schemeClr val="dk1"/>
              </a:solidFill>
              <a:latin typeface="Arial"/>
              <a:ea typeface="Arial"/>
              <a:cs typeface="Arial"/>
              <a:sym typeface="Arial"/>
            </a:endParaRPr>
          </a:p>
        </p:txBody>
      </p:sp>
      <p:sp>
        <p:nvSpPr>
          <p:cNvPr id="145" name="Google Shape;145;p19"/>
          <p:cNvSpPr/>
          <p:nvPr/>
        </p:nvSpPr>
        <p:spPr>
          <a:xfrm>
            <a:off x="4828032" y="2660904"/>
            <a:ext cx="3634740" cy="788670"/>
          </a:xfrm>
          <a:prstGeom prst="rect">
            <a:avLst/>
          </a:prstGeom>
          <a:solidFill>
            <a:srgbClr val="F7F9FB"/>
          </a:solidFill>
          <a:ln cap="flat" cmpd="sng" w="9525">
            <a:solidFill>
              <a:srgbClr val="D7DEE5"/>
            </a:solidFill>
            <a:prstDash val="solid"/>
            <a:round/>
            <a:headEnd len="sm" w="sm" type="none"/>
            <a:tailEnd len="sm" w="sm" type="none"/>
          </a:ln>
        </p:spPr>
        <p:txBody>
          <a:bodyPr anchorCtr="0" anchor="ctr" bIns="1125" lIns="1125" spcFirstLastPara="1" rIns="1125" wrap="square" tIns="1125">
            <a:noAutofit/>
          </a:bodyPr>
          <a:lstStyle/>
          <a:p>
            <a:pPr indent="0" lvl="0" marL="0" marR="0" rtl="0" algn="l">
              <a:spcBef>
                <a:spcPts val="0"/>
              </a:spcBef>
              <a:spcAft>
                <a:spcPts val="0"/>
              </a:spcAft>
              <a:buClr>
                <a:srgbClr val="263238"/>
              </a:buClr>
              <a:buSzPts val="1000"/>
              <a:buFont typeface="Arial"/>
              <a:buNone/>
            </a:pPr>
            <a:r>
              <a:rPr b="0" i="0" lang="en" sz="1000" u="none" cap="none" strike="noStrike">
                <a:solidFill>
                  <a:srgbClr val="263238"/>
                </a:solidFill>
                <a:latin typeface="Arial"/>
                <a:ea typeface="Arial"/>
                <a:cs typeface="Arial"/>
                <a:sym typeface="Arial"/>
              </a:rPr>
              <a:t>Pydantic schema validation + allowlisted operators</a:t>
            </a:r>
            <a:endParaRPr b="0" i="0" sz="10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63238"/>
              </a:buClr>
              <a:buSzPts val="1000"/>
              <a:buFont typeface="Arial"/>
              <a:buNone/>
            </a:pPr>
            <a:r>
              <a:rPr b="0" i="0" lang="en" sz="1000" u="none" cap="none" strike="noStrike">
                <a:solidFill>
                  <a:srgbClr val="263238"/>
                </a:solidFill>
                <a:latin typeface="Arial"/>
                <a:ea typeface="Arial"/>
                <a:cs typeface="Arial"/>
                <a:sym typeface="Arial"/>
              </a:rPr>
              <a:t>No generated Python or SQL execution</a:t>
            </a:r>
            <a:endParaRPr b="0" i="0" sz="10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63238"/>
              </a:buClr>
              <a:buSzPts val="1000"/>
              <a:buFont typeface="Arial"/>
              <a:buNone/>
            </a:pPr>
            <a:r>
              <a:rPr b="0" i="0" lang="en" sz="1000" u="none" cap="none" strike="noStrike">
                <a:solidFill>
                  <a:srgbClr val="263238"/>
                </a:solidFill>
                <a:latin typeface="Arial"/>
                <a:ea typeface="Arial"/>
                <a:cs typeface="Arial"/>
                <a:sym typeface="Arial"/>
              </a:rPr>
              <a:t>Only action: flag_for_review</a:t>
            </a:r>
            <a:endParaRPr b="0" i="0" sz="1000" u="none" cap="none" strike="noStrike">
              <a:solidFill>
                <a:schemeClr val="dk1"/>
              </a:solidFill>
              <a:latin typeface="Arial"/>
              <a:ea typeface="Arial"/>
              <a:cs typeface="Arial"/>
              <a:sym typeface="Arial"/>
            </a:endParaRPr>
          </a:p>
        </p:txBody>
      </p:sp>
      <p:sp>
        <p:nvSpPr>
          <p:cNvPr id="146" name="Google Shape;146;p19"/>
          <p:cNvSpPr/>
          <p:nvPr/>
        </p:nvSpPr>
        <p:spPr>
          <a:xfrm>
            <a:off x="480060" y="3874770"/>
            <a:ext cx="7982712" cy="370332"/>
          </a:xfrm>
          <a:prstGeom prst="rect">
            <a:avLst/>
          </a:prstGeom>
          <a:solidFill>
            <a:srgbClr val="E8F6F3"/>
          </a:solidFill>
          <a:ln cap="flat" cmpd="sng" w="9525">
            <a:solidFill>
              <a:srgbClr val="BDE5DE"/>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0B1F33"/>
              </a:buClr>
              <a:buSzPts val="1000"/>
              <a:buFont typeface="Arial"/>
              <a:buNone/>
            </a:pPr>
            <a:r>
              <a:rPr b="1" i="0" lang="en" sz="1000" u="none" cap="none" strike="noStrike">
                <a:solidFill>
                  <a:srgbClr val="0B1F33"/>
                </a:solidFill>
                <a:latin typeface="Arial"/>
                <a:ea typeface="Arial"/>
                <a:cs typeface="Arial"/>
                <a:sym typeface="Arial"/>
              </a:rPr>
              <a:t>Thesis: compare official versions → attach evidence → validated review rule or abstain → synthetic claim review → approve / reject / escalate.</a:t>
            </a:r>
            <a:endParaRPr b="0" i="0" sz="1000" u="none" cap="none" strike="noStrike">
              <a:solidFill>
                <a:schemeClr val="dk1"/>
              </a:solidFill>
              <a:latin typeface="Arial"/>
              <a:ea typeface="Arial"/>
              <a:cs typeface="Arial"/>
              <a:sym typeface="Arial"/>
            </a:endParaRPr>
          </a:p>
        </p:txBody>
      </p:sp>
      <p:sp>
        <p:nvSpPr>
          <p:cNvPr id="147" name="Google Shape;147;p19"/>
          <p:cNvSpPr/>
          <p:nvPr/>
        </p:nvSpPr>
        <p:spPr>
          <a:xfrm>
            <a:off x="342900" y="4780026"/>
            <a:ext cx="7475220" cy="1577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600"/>
              <a:buFont typeface="Arial"/>
              <a:buNone/>
            </a:pPr>
            <a:r>
              <a:rPr b="0" i="0" lang="en" sz="600" u="none" cap="none" strike="noStrike">
                <a:solidFill>
                  <a:srgbClr val="667085"/>
                </a:solidFill>
                <a:latin typeface="Arial"/>
                <a:ea typeface="Arial"/>
                <a:cs typeface="Arial"/>
                <a:sym typeface="Arial"/>
              </a:rPr>
              <a:t>Method from paper and repo README: fully offline deterministic core; no API key required.</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20"/>
          <p:cNvSpPr/>
          <p:nvPr/>
        </p:nvSpPr>
        <p:spPr>
          <a:xfrm>
            <a:off x="0" y="0"/>
            <a:ext cx="9143771" cy="68580"/>
          </a:xfrm>
          <a:prstGeom prst="rect">
            <a:avLst/>
          </a:prstGeom>
          <a:solidFill>
            <a:srgbClr val="0E8F8F"/>
          </a:solidFill>
          <a:ln cap="flat" cmpd="sng" w="1270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20"/>
          <p:cNvSpPr/>
          <p:nvPr/>
        </p:nvSpPr>
        <p:spPr>
          <a:xfrm>
            <a:off x="329184" y="178308"/>
            <a:ext cx="15087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700"/>
              <a:buFont typeface="Arial"/>
              <a:buNone/>
            </a:pPr>
            <a:r>
              <a:rPr b="1" i="0" lang="en" sz="700" u="none" cap="none" strike="noStrike">
                <a:solidFill>
                  <a:srgbClr val="0E8F8F"/>
                </a:solidFill>
                <a:latin typeface="Arial"/>
                <a:ea typeface="Arial"/>
                <a:cs typeface="Arial"/>
                <a:sym typeface="Arial"/>
              </a:rPr>
              <a:t>METHOD</a:t>
            </a:r>
            <a:endParaRPr b="0" i="0" sz="700" u="none" cap="none" strike="noStrike">
              <a:solidFill>
                <a:schemeClr val="dk1"/>
              </a:solidFill>
              <a:latin typeface="Arial"/>
              <a:ea typeface="Arial"/>
              <a:cs typeface="Arial"/>
              <a:sym typeface="Arial"/>
            </a:endParaRPr>
          </a:p>
        </p:txBody>
      </p:sp>
      <p:sp>
        <p:nvSpPr>
          <p:cNvPr id="155" name="Google Shape;155;p20"/>
          <p:cNvSpPr/>
          <p:nvPr/>
        </p:nvSpPr>
        <p:spPr>
          <a:xfrm>
            <a:off x="8366760" y="4786884"/>
            <a:ext cx="377190" cy="17145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00"/>
              <a:buFont typeface="Arial"/>
              <a:buNone/>
            </a:pPr>
            <a:r>
              <a:rPr b="0" i="0" lang="en" sz="700" u="none" cap="none" strike="noStrike">
                <a:solidFill>
                  <a:srgbClr val="667085"/>
                </a:solidFill>
                <a:latin typeface="Arial"/>
                <a:ea typeface="Arial"/>
                <a:cs typeface="Arial"/>
                <a:sym typeface="Arial"/>
              </a:rPr>
              <a:t>05</a:t>
            </a:r>
            <a:endParaRPr b="0" i="0" sz="700" u="none" cap="none" strike="noStrike">
              <a:solidFill>
                <a:schemeClr val="dk1"/>
              </a:solidFill>
              <a:latin typeface="Arial"/>
              <a:ea typeface="Arial"/>
              <a:cs typeface="Arial"/>
              <a:sym typeface="Arial"/>
            </a:endParaRPr>
          </a:p>
        </p:txBody>
      </p:sp>
      <p:cxnSp>
        <p:nvCxnSpPr>
          <p:cNvPr id="156" name="Google Shape;156;p20"/>
          <p:cNvCxnSpPr/>
          <p:nvPr/>
        </p:nvCxnSpPr>
        <p:spPr>
          <a:xfrm>
            <a:off x="329184" y="4704588"/>
            <a:ext cx="8469630" cy="0"/>
          </a:xfrm>
          <a:prstGeom prst="straightConnector1">
            <a:avLst/>
          </a:prstGeom>
          <a:noFill/>
          <a:ln cap="flat" cmpd="sng" w="9525">
            <a:solidFill>
              <a:srgbClr val="D7DEE5"/>
            </a:solidFill>
            <a:prstDash val="solid"/>
            <a:round/>
            <a:headEnd len="sm" w="sm" type="none"/>
            <a:tailEnd len="sm" w="sm" type="none"/>
          </a:ln>
        </p:spPr>
      </p:cxnSp>
      <p:sp>
        <p:nvSpPr>
          <p:cNvPr id="157" name="Google Shape;157;p20"/>
          <p:cNvSpPr/>
          <p:nvPr/>
        </p:nvSpPr>
        <p:spPr>
          <a:xfrm>
            <a:off x="329184" y="438912"/>
            <a:ext cx="6035040" cy="3429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0B1F33"/>
              </a:buClr>
              <a:buSzPts val="1900"/>
              <a:buFont typeface="Arial"/>
              <a:buNone/>
            </a:pPr>
            <a:r>
              <a:rPr b="1" lang="en" sz="1900">
                <a:solidFill>
                  <a:srgbClr val="0B1F33"/>
                </a:solidFill>
              </a:rPr>
              <a:t>Governance: </a:t>
            </a:r>
            <a:r>
              <a:rPr b="1" i="0" lang="en" sz="1900" u="none" cap="none" strike="noStrike">
                <a:solidFill>
                  <a:srgbClr val="0B1F33"/>
                </a:solidFill>
                <a:latin typeface="Arial"/>
                <a:ea typeface="Arial"/>
                <a:cs typeface="Arial"/>
                <a:sym typeface="Arial"/>
              </a:rPr>
              <a:t>Only decidable changes become rules</a:t>
            </a:r>
            <a:endParaRPr b="0" i="0" sz="1900" u="none" cap="none" strike="noStrike">
              <a:solidFill>
                <a:schemeClr val="dk1"/>
              </a:solidFill>
              <a:latin typeface="Arial"/>
              <a:ea typeface="Arial"/>
              <a:cs typeface="Arial"/>
              <a:sym typeface="Arial"/>
            </a:endParaRPr>
          </a:p>
        </p:txBody>
      </p:sp>
      <p:sp>
        <p:nvSpPr>
          <p:cNvPr id="158" name="Google Shape;158;p20"/>
          <p:cNvSpPr/>
          <p:nvPr/>
        </p:nvSpPr>
        <p:spPr>
          <a:xfrm>
            <a:off x="342900" y="809244"/>
            <a:ext cx="6515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en" sz="900" u="none" cap="none" strike="noStrike">
                <a:solidFill>
                  <a:srgbClr val="667085"/>
                </a:solidFill>
                <a:latin typeface="Arial"/>
                <a:ea typeface="Arial"/>
                <a:cs typeface="Arial"/>
                <a:sym typeface="Arial"/>
              </a:rPr>
              <a:t>Ambiguous clinical purpose is a stop sign, not a prompt to invent logic.</a:t>
            </a:r>
            <a:endParaRPr b="0" i="0" sz="900" u="none" cap="none" strike="noStrike">
              <a:solidFill>
                <a:schemeClr val="dk1"/>
              </a:solidFill>
              <a:latin typeface="Arial"/>
              <a:ea typeface="Arial"/>
              <a:cs typeface="Arial"/>
              <a:sym typeface="Arial"/>
            </a:endParaRPr>
          </a:p>
        </p:txBody>
      </p:sp>
      <p:sp>
        <p:nvSpPr>
          <p:cNvPr id="159" name="Google Shape;159;p20"/>
          <p:cNvSpPr/>
          <p:nvPr/>
        </p:nvSpPr>
        <p:spPr>
          <a:xfrm>
            <a:off x="560070" y="1443620"/>
            <a:ext cx="2229000" cy="493800"/>
          </a:xfrm>
          <a:prstGeom prst="rect">
            <a:avLst/>
          </a:prstGeom>
          <a:solidFill>
            <a:srgbClr val="E8F6F3"/>
          </a:solidFill>
          <a:ln cap="flat" cmpd="sng" w="9525">
            <a:solidFill>
              <a:srgbClr val="BDE5DE"/>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0B1F33"/>
              </a:buClr>
              <a:buSzPts val="1100"/>
              <a:buFont typeface="Arial"/>
              <a:buNone/>
            </a:pPr>
            <a:r>
              <a:rPr b="1" i="0" lang="en" sz="1100" u="none" cap="none" strike="noStrike">
                <a:solidFill>
                  <a:srgbClr val="0B1F33"/>
                </a:solidFill>
                <a:latin typeface="Arial"/>
                <a:ea typeface="Arial"/>
                <a:cs typeface="Arial"/>
                <a:sym typeface="Arial"/>
              </a:rPr>
              <a:t>Executable when claim fields contain all required facts</a:t>
            </a:r>
            <a:endParaRPr b="0" i="0" sz="1100" u="none" cap="none" strike="noStrike">
              <a:solidFill>
                <a:schemeClr val="dk1"/>
              </a:solidFill>
              <a:latin typeface="Arial"/>
              <a:ea typeface="Arial"/>
              <a:cs typeface="Arial"/>
              <a:sym typeface="Arial"/>
            </a:endParaRPr>
          </a:p>
        </p:txBody>
      </p:sp>
      <p:sp>
        <p:nvSpPr>
          <p:cNvPr id="160" name="Google Shape;160;p20"/>
          <p:cNvSpPr/>
          <p:nvPr/>
        </p:nvSpPr>
        <p:spPr>
          <a:xfrm>
            <a:off x="560070" y="2115704"/>
            <a:ext cx="2229000" cy="548700"/>
          </a:xfrm>
          <a:prstGeom prst="rect">
            <a:avLst/>
          </a:prstGeom>
          <a:solidFill>
            <a:srgbClr val="F7F9FB"/>
          </a:solidFill>
          <a:ln cap="flat" cmpd="sng" w="9525">
            <a:solidFill>
              <a:srgbClr val="D7DEE5"/>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0B1F33"/>
              </a:buClr>
              <a:buSzPts val="1100"/>
              <a:buFont typeface="Arial"/>
              <a:buNone/>
            </a:pPr>
            <a:r>
              <a:rPr b="1" i="0" lang="en" sz="1100" u="none" cap="none" strike="noStrike">
                <a:solidFill>
                  <a:srgbClr val="0B1F33"/>
                </a:solidFill>
                <a:latin typeface="Arial"/>
                <a:ea typeface="Arial"/>
                <a:cs typeface="Arial"/>
                <a:sym typeface="Arial"/>
              </a:rPr>
              <a:t>Declarative JSON</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B1F33"/>
              </a:buClr>
              <a:buSzPts val="1100"/>
              <a:buFont typeface="Arial"/>
              <a:buNone/>
            </a:pPr>
            <a:r>
              <a:rPr b="1" i="0" lang="en" sz="1100" u="none" cap="none" strike="noStrike">
                <a:solidFill>
                  <a:srgbClr val="0B1F33"/>
                </a:solidFill>
                <a:latin typeface="Arial"/>
                <a:ea typeface="Arial"/>
                <a:cs typeface="Arial"/>
                <a:sym typeface="Arial"/>
              </a:rPr>
              <a:t>+ validated operators</a:t>
            </a:r>
            <a:endParaRPr b="0" i="0" sz="1100" u="none" cap="none" strike="noStrike">
              <a:solidFill>
                <a:schemeClr val="dk1"/>
              </a:solidFill>
              <a:latin typeface="Arial"/>
              <a:ea typeface="Arial"/>
              <a:cs typeface="Arial"/>
              <a:sym typeface="Arial"/>
            </a:endParaRPr>
          </a:p>
        </p:txBody>
      </p:sp>
      <p:sp>
        <p:nvSpPr>
          <p:cNvPr id="161" name="Google Shape;161;p20"/>
          <p:cNvSpPr/>
          <p:nvPr/>
        </p:nvSpPr>
        <p:spPr>
          <a:xfrm>
            <a:off x="560070" y="2822078"/>
            <a:ext cx="2229000" cy="548700"/>
          </a:xfrm>
          <a:prstGeom prst="rect">
            <a:avLst/>
          </a:prstGeom>
          <a:solidFill>
            <a:srgbClr val="F7F9FB"/>
          </a:solidFill>
          <a:ln cap="flat" cmpd="sng" w="9525">
            <a:solidFill>
              <a:srgbClr val="D7DEE5"/>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0B1F33"/>
              </a:buClr>
              <a:buSzPts val="1100"/>
              <a:buFont typeface="Arial"/>
              <a:buNone/>
            </a:pPr>
            <a:r>
              <a:rPr b="1" i="0" lang="en" sz="1100" u="none" cap="none" strike="noStrike">
                <a:solidFill>
                  <a:srgbClr val="0B1F33"/>
                </a:solidFill>
                <a:latin typeface="Arial"/>
                <a:ea typeface="Arial"/>
                <a:cs typeface="Arial"/>
                <a:sym typeface="Arial"/>
              </a:rPr>
              <a:t>Deterministic dry run</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B1F33"/>
              </a:buClr>
              <a:buSzPts val="1100"/>
              <a:buFont typeface="Arial"/>
              <a:buNone/>
            </a:pPr>
            <a:r>
              <a:rPr b="1" i="0" lang="en" sz="1100" u="none" cap="none" strike="noStrike">
                <a:solidFill>
                  <a:srgbClr val="0B1F33"/>
                </a:solidFill>
                <a:latin typeface="Arial"/>
                <a:ea typeface="Arial"/>
                <a:cs typeface="Arial"/>
                <a:sym typeface="Arial"/>
              </a:rPr>
              <a:t>on synthetic claims</a:t>
            </a:r>
            <a:endParaRPr b="0" i="0" sz="1100" u="none" cap="none" strike="noStrike">
              <a:solidFill>
                <a:schemeClr val="dk1"/>
              </a:solidFill>
              <a:latin typeface="Arial"/>
              <a:ea typeface="Arial"/>
              <a:cs typeface="Arial"/>
              <a:sym typeface="Arial"/>
            </a:endParaRPr>
          </a:p>
        </p:txBody>
      </p:sp>
      <p:sp>
        <p:nvSpPr>
          <p:cNvPr id="162" name="Google Shape;162;p20"/>
          <p:cNvSpPr/>
          <p:nvPr/>
        </p:nvSpPr>
        <p:spPr>
          <a:xfrm>
            <a:off x="560070" y="3528452"/>
            <a:ext cx="2229000" cy="548700"/>
          </a:xfrm>
          <a:prstGeom prst="rect">
            <a:avLst/>
          </a:prstGeom>
          <a:solidFill>
            <a:srgbClr val="F7F9FB"/>
          </a:solidFill>
          <a:ln cap="flat" cmpd="sng" w="9525">
            <a:solidFill>
              <a:srgbClr val="D7DEE5"/>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0B1F33"/>
              </a:buClr>
              <a:buSzPts val="1100"/>
              <a:buFont typeface="Arial"/>
              <a:buNone/>
            </a:pPr>
            <a:r>
              <a:rPr b="1" i="0" lang="en" sz="1100" u="none" cap="none" strike="noStrike">
                <a:solidFill>
                  <a:srgbClr val="0B1F33"/>
                </a:solidFill>
                <a:latin typeface="Arial"/>
                <a:ea typeface="Arial"/>
                <a:cs typeface="Arial"/>
                <a:sym typeface="Arial"/>
              </a:rPr>
              <a:t>Human approve / reject / escalate</a:t>
            </a:r>
            <a:endParaRPr b="0" i="0" sz="1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B1F33"/>
              </a:buClr>
              <a:buSzPts val="1100"/>
              <a:buFont typeface="Arial"/>
              <a:buNone/>
            </a:pPr>
            <a:r>
              <a:rPr b="1" i="0" lang="en" sz="1100" u="none" cap="none" strike="noStrike">
                <a:solidFill>
                  <a:srgbClr val="0B1F33"/>
                </a:solidFill>
                <a:latin typeface="Arial"/>
                <a:ea typeface="Arial"/>
                <a:cs typeface="Arial"/>
                <a:sym typeface="Arial"/>
              </a:rPr>
              <a:t>audit logged</a:t>
            </a:r>
            <a:endParaRPr b="0" i="0" sz="1100" u="none" cap="none" strike="noStrike">
              <a:solidFill>
                <a:schemeClr val="dk1"/>
              </a:solidFill>
              <a:latin typeface="Arial"/>
              <a:ea typeface="Arial"/>
              <a:cs typeface="Arial"/>
              <a:sym typeface="Arial"/>
            </a:endParaRPr>
          </a:p>
        </p:txBody>
      </p:sp>
      <p:sp>
        <p:nvSpPr>
          <p:cNvPr id="163" name="Google Shape;163;p20"/>
          <p:cNvSpPr/>
          <p:nvPr/>
        </p:nvSpPr>
        <p:spPr>
          <a:xfrm>
            <a:off x="5559335" y="4077160"/>
            <a:ext cx="3017400" cy="1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7085"/>
              </a:buClr>
              <a:buSzPts val="800"/>
              <a:buFont typeface="Arial"/>
              <a:buNone/>
            </a:pPr>
            <a:r>
              <a:rPr b="0" i="0" lang="en" sz="800" u="none" cap="none" strike="noStrike">
                <a:solidFill>
                  <a:srgbClr val="667085"/>
                </a:solidFill>
                <a:latin typeface="Arial"/>
                <a:ea typeface="Arial"/>
                <a:cs typeface="Arial"/>
                <a:sym typeface="Arial"/>
              </a:rPr>
              <a:t>Governance screen: abstention + expert interpretation path</a:t>
            </a:r>
            <a:endParaRPr b="0" i="0" sz="800" u="none" cap="none" strike="noStrike">
              <a:solidFill>
                <a:schemeClr val="dk1"/>
              </a:solidFill>
              <a:latin typeface="Arial"/>
              <a:ea typeface="Arial"/>
              <a:cs typeface="Arial"/>
              <a:sym typeface="Arial"/>
            </a:endParaRPr>
          </a:p>
        </p:txBody>
      </p:sp>
      <p:sp>
        <p:nvSpPr>
          <p:cNvPr id="164" name="Google Shape;164;p20"/>
          <p:cNvSpPr/>
          <p:nvPr/>
        </p:nvSpPr>
        <p:spPr>
          <a:xfrm>
            <a:off x="3010006" y="2530659"/>
            <a:ext cx="2194500" cy="425100"/>
          </a:xfrm>
          <a:prstGeom prst="rect">
            <a:avLst/>
          </a:prstGeom>
          <a:solidFill>
            <a:srgbClr val="0B1F33"/>
          </a:solidFill>
          <a:ln cap="flat" cmpd="sng" w="9525">
            <a:solidFill>
              <a:srgbClr val="0B1F33"/>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FFFFFF"/>
              </a:buClr>
              <a:buSzPts val="1100"/>
              <a:buFont typeface="Arial"/>
              <a:buNone/>
            </a:pPr>
            <a:r>
              <a:rPr b="1" lang="en" sz="1300">
                <a:solidFill>
                  <a:srgbClr val="FFFFFF"/>
                </a:solidFill>
              </a:rPr>
              <a:t>Human - in  - </a:t>
            </a:r>
            <a:r>
              <a:rPr b="1" lang="en" sz="1300">
                <a:solidFill>
                  <a:srgbClr val="FFFFFF"/>
                </a:solidFill>
              </a:rPr>
              <a:t>Loop</a:t>
            </a:r>
            <a:endParaRPr b="1" i="0" sz="1300" u="none" cap="none" strike="noStrike">
              <a:solidFill>
                <a:schemeClr val="dk1"/>
              </a:solidFill>
            </a:endParaRPr>
          </a:p>
        </p:txBody>
      </p:sp>
      <p:sp>
        <p:nvSpPr>
          <p:cNvPr id="165" name="Google Shape;165;p20"/>
          <p:cNvSpPr/>
          <p:nvPr/>
        </p:nvSpPr>
        <p:spPr>
          <a:xfrm>
            <a:off x="342900" y="4780026"/>
            <a:ext cx="7475220" cy="1577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600"/>
              <a:buFont typeface="Arial"/>
              <a:buNone/>
            </a:pPr>
            <a:r>
              <a:rPr b="0" i="0" lang="en" sz="600" u="none" cap="none" strike="noStrike">
                <a:solidFill>
                  <a:srgbClr val="667085"/>
                </a:solidFill>
                <a:latin typeface="Arial"/>
                <a:ea typeface="Arial"/>
                <a:cs typeface="Arial"/>
                <a:sym typeface="Arial"/>
              </a:rPr>
              <a:t>Screenshot from repository demo assets.</a:t>
            </a:r>
            <a:endParaRPr b="0" i="0" sz="600" u="none" cap="none" strike="noStrike">
              <a:solidFill>
                <a:schemeClr val="dk1"/>
              </a:solidFill>
              <a:latin typeface="Arial"/>
              <a:ea typeface="Arial"/>
              <a:cs typeface="Arial"/>
              <a:sym typeface="Arial"/>
            </a:endParaRPr>
          </a:p>
        </p:txBody>
      </p:sp>
      <p:pic>
        <p:nvPicPr>
          <p:cNvPr id="166" name="Google Shape;166;p20"/>
          <p:cNvPicPr preferRelativeResize="0"/>
          <p:nvPr/>
        </p:nvPicPr>
        <p:blipFill>
          <a:blip r:embed="rId3">
            <a:alphaModFix/>
          </a:blip>
          <a:stretch>
            <a:fillRect/>
          </a:stretch>
        </p:blipFill>
        <p:spPr>
          <a:xfrm>
            <a:off x="5425431" y="1387619"/>
            <a:ext cx="3373387" cy="254456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p21"/>
          <p:cNvSpPr/>
          <p:nvPr/>
        </p:nvSpPr>
        <p:spPr>
          <a:xfrm>
            <a:off x="0" y="0"/>
            <a:ext cx="9143771" cy="68580"/>
          </a:xfrm>
          <a:prstGeom prst="rect">
            <a:avLst/>
          </a:prstGeom>
          <a:solidFill>
            <a:srgbClr val="0E8F8F"/>
          </a:solidFill>
          <a:ln cap="flat" cmpd="sng" w="1270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3" name="Google Shape;173;p21"/>
          <p:cNvSpPr/>
          <p:nvPr/>
        </p:nvSpPr>
        <p:spPr>
          <a:xfrm>
            <a:off x="329184" y="178308"/>
            <a:ext cx="15087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700"/>
              <a:buFont typeface="Arial"/>
              <a:buNone/>
            </a:pPr>
            <a:r>
              <a:rPr b="1" i="0" lang="en" sz="700" u="none" cap="none" strike="noStrike">
                <a:solidFill>
                  <a:srgbClr val="0E8F8F"/>
                </a:solidFill>
                <a:latin typeface="Arial"/>
                <a:ea typeface="Arial"/>
                <a:cs typeface="Arial"/>
                <a:sym typeface="Arial"/>
              </a:rPr>
              <a:t>RESULTS</a:t>
            </a:r>
            <a:endParaRPr b="0" i="0" sz="700" u="none" cap="none" strike="noStrike">
              <a:solidFill>
                <a:schemeClr val="dk1"/>
              </a:solidFill>
              <a:latin typeface="Arial"/>
              <a:ea typeface="Arial"/>
              <a:cs typeface="Arial"/>
              <a:sym typeface="Arial"/>
            </a:endParaRPr>
          </a:p>
        </p:txBody>
      </p:sp>
      <p:sp>
        <p:nvSpPr>
          <p:cNvPr id="174" name="Google Shape;174;p21"/>
          <p:cNvSpPr/>
          <p:nvPr/>
        </p:nvSpPr>
        <p:spPr>
          <a:xfrm>
            <a:off x="8366760" y="4786884"/>
            <a:ext cx="377190" cy="17145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00"/>
              <a:buFont typeface="Arial"/>
              <a:buNone/>
            </a:pPr>
            <a:r>
              <a:rPr b="0" i="0" lang="en" sz="700" u="none" cap="none" strike="noStrike">
                <a:solidFill>
                  <a:srgbClr val="667085"/>
                </a:solidFill>
                <a:latin typeface="Arial"/>
                <a:ea typeface="Arial"/>
                <a:cs typeface="Arial"/>
                <a:sym typeface="Arial"/>
              </a:rPr>
              <a:t>06</a:t>
            </a:r>
            <a:endParaRPr b="0" i="0" sz="700" u="none" cap="none" strike="noStrike">
              <a:solidFill>
                <a:schemeClr val="dk1"/>
              </a:solidFill>
              <a:latin typeface="Arial"/>
              <a:ea typeface="Arial"/>
              <a:cs typeface="Arial"/>
              <a:sym typeface="Arial"/>
            </a:endParaRPr>
          </a:p>
        </p:txBody>
      </p:sp>
      <p:cxnSp>
        <p:nvCxnSpPr>
          <p:cNvPr id="175" name="Google Shape;175;p21"/>
          <p:cNvCxnSpPr/>
          <p:nvPr/>
        </p:nvCxnSpPr>
        <p:spPr>
          <a:xfrm>
            <a:off x="329184" y="4704588"/>
            <a:ext cx="8469630" cy="0"/>
          </a:xfrm>
          <a:prstGeom prst="straightConnector1">
            <a:avLst/>
          </a:prstGeom>
          <a:noFill/>
          <a:ln cap="flat" cmpd="sng" w="9525">
            <a:solidFill>
              <a:srgbClr val="D7DEE5"/>
            </a:solidFill>
            <a:prstDash val="solid"/>
            <a:round/>
            <a:headEnd len="sm" w="sm" type="none"/>
            <a:tailEnd len="sm" w="sm" type="none"/>
          </a:ln>
        </p:spPr>
      </p:cxnSp>
      <p:sp>
        <p:nvSpPr>
          <p:cNvPr id="176" name="Google Shape;176;p21"/>
          <p:cNvSpPr/>
          <p:nvPr/>
        </p:nvSpPr>
        <p:spPr>
          <a:xfrm>
            <a:off x="329184" y="438912"/>
            <a:ext cx="6035040" cy="3429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0B1F33"/>
              </a:buClr>
              <a:buSzPts val="1900"/>
              <a:buFont typeface="Arial"/>
              <a:buNone/>
            </a:pPr>
            <a:r>
              <a:rPr b="1" lang="en" sz="1900">
                <a:solidFill>
                  <a:srgbClr val="0B1F33"/>
                </a:solidFill>
              </a:rPr>
              <a:t>Result: </a:t>
            </a:r>
            <a:r>
              <a:rPr b="1" i="0" lang="en" sz="1900" u="none" cap="none" strike="noStrike">
                <a:solidFill>
                  <a:srgbClr val="0B1F33"/>
                </a:solidFill>
                <a:latin typeface="Arial"/>
                <a:ea typeface="Arial"/>
                <a:cs typeface="Arial"/>
                <a:sym typeface="Arial"/>
              </a:rPr>
              <a:t>The queue gets smaller and clearer</a:t>
            </a:r>
            <a:endParaRPr b="0" i="0" sz="1900" u="none" cap="none" strike="noStrike">
              <a:solidFill>
                <a:schemeClr val="dk1"/>
              </a:solidFill>
              <a:latin typeface="Arial"/>
              <a:ea typeface="Arial"/>
              <a:cs typeface="Arial"/>
              <a:sym typeface="Arial"/>
            </a:endParaRPr>
          </a:p>
        </p:txBody>
      </p:sp>
      <p:sp>
        <p:nvSpPr>
          <p:cNvPr id="177" name="Google Shape;177;p21"/>
          <p:cNvSpPr/>
          <p:nvPr/>
        </p:nvSpPr>
        <p:spPr>
          <a:xfrm>
            <a:off x="342900" y="809244"/>
            <a:ext cx="65151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en" sz="900" u="none" cap="none" strike="noStrike">
                <a:solidFill>
                  <a:srgbClr val="667085"/>
                </a:solidFill>
                <a:latin typeface="Arial"/>
                <a:ea typeface="Arial"/>
                <a:cs typeface="Arial"/>
                <a:sym typeface="Arial"/>
              </a:rPr>
              <a:t>Synthetic pack: 604 claims, four executable rules, one documented abstention.</a:t>
            </a:r>
            <a:endParaRPr b="0" i="0" sz="900" u="none" cap="none" strike="noStrike">
              <a:solidFill>
                <a:schemeClr val="dk1"/>
              </a:solidFill>
              <a:latin typeface="Arial"/>
              <a:ea typeface="Arial"/>
              <a:cs typeface="Arial"/>
              <a:sym typeface="Arial"/>
            </a:endParaRPr>
          </a:p>
        </p:txBody>
      </p:sp>
      <p:sp>
        <p:nvSpPr>
          <p:cNvPr id="178" name="Google Shape;178;p21"/>
          <p:cNvSpPr/>
          <p:nvPr/>
        </p:nvSpPr>
        <p:spPr>
          <a:xfrm>
            <a:off x="425196" y="1131570"/>
            <a:ext cx="2434590" cy="857250"/>
          </a:xfrm>
          <a:prstGeom prst="rect">
            <a:avLst/>
          </a:prstGeom>
          <a:solidFill>
            <a:srgbClr val="0B1F33"/>
          </a:solidFill>
          <a:ln cap="flat" cmpd="sng" w="9525">
            <a:solidFill>
              <a:srgbClr val="0B1F33"/>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FFFFFF"/>
              </a:buClr>
              <a:buSzPts val="1600"/>
              <a:buFont typeface="Arial"/>
              <a:buNone/>
            </a:pPr>
            <a:r>
              <a:rPr b="1" i="0" lang="en" sz="1600" u="none" cap="none" strike="noStrike">
                <a:solidFill>
                  <a:srgbClr val="FFFFFF"/>
                </a:solidFill>
                <a:latin typeface="Arial"/>
                <a:ea typeface="Arial"/>
                <a:cs typeface="Arial"/>
                <a:sym typeface="Arial"/>
              </a:rPr>
              <a:t>5 gates</a:t>
            </a:r>
            <a:endParaRPr b="0" i="0" sz="16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600"/>
              <a:buFont typeface="Arial"/>
              <a:buNone/>
            </a:pPr>
            <a:r>
              <a:rPr b="1" i="0" lang="en" sz="1600" u="none" cap="none" strike="noStrike">
                <a:solidFill>
                  <a:srgbClr val="FFFFFF"/>
                </a:solidFill>
                <a:latin typeface="Arial"/>
                <a:ea typeface="Arial"/>
                <a:cs typeface="Arial"/>
                <a:sym typeface="Arial"/>
              </a:rPr>
              <a:t>vs 604 reads</a:t>
            </a:r>
            <a:endParaRPr b="0" i="0" sz="1600" u="none" cap="none" strike="noStrike">
              <a:solidFill>
                <a:schemeClr val="dk1"/>
              </a:solidFill>
              <a:latin typeface="Arial"/>
              <a:ea typeface="Arial"/>
              <a:cs typeface="Arial"/>
              <a:sym typeface="Arial"/>
            </a:endParaRPr>
          </a:p>
        </p:txBody>
      </p:sp>
      <p:sp>
        <p:nvSpPr>
          <p:cNvPr id="179" name="Google Shape;179;p21"/>
          <p:cNvSpPr/>
          <p:nvPr/>
        </p:nvSpPr>
        <p:spPr>
          <a:xfrm>
            <a:off x="466344" y="2084832"/>
            <a:ext cx="2331720" cy="397764"/>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rgbClr val="263238"/>
              </a:buClr>
              <a:buSzPts val="900"/>
              <a:buFont typeface="Arial"/>
              <a:buNone/>
            </a:pPr>
            <a:r>
              <a:rPr b="0" i="0" lang="en" sz="900" u="none" cap="none" strike="noStrike">
                <a:solidFill>
                  <a:srgbClr val="263238"/>
                </a:solidFill>
                <a:latin typeface="Arial"/>
                <a:ea typeface="Arial"/>
                <a:cs typeface="Arial"/>
                <a:sym typeface="Arial"/>
              </a:rPr>
              <a:t>≈99.2% fewer policy-interpretation decisions under this accounting assumption.</a:t>
            </a:r>
            <a:endParaRPr b="0" i="0" sz="900" u="none" cap="none" strike="noStrike">
              <a:solidFill>
                <a:schemeClr val="dk1"/>
              </a:solidFill>
              <a:latin typeface="Arial"/>
              <a:ea typeface="Arial"/>
              <a:cs typeface="Arial"/>
              <a:sym typeface="Arial"/>
            </a:endParaRPr>
          </a:p>
        </p:txBody>
      </p:sp>
      <p:sp>
        <p:nvSpPr>
          <p:cNvPr id="180" name="Google Shape;180;p21"/>
          <p:cNvSpPr/>
          <p:nvPr/>
        </p:nvSpPr>
        <p:spPr>
          <a:xfrm>
            <a:off x="3305556" y="1131570"/>
            <a:ext cx="2434590" cy="857250"/>
          </a:xfrm>
          <a:prstGeom prst="rect">
            <a:avLst/>
          </a:prstGeom>
          <a:solidFill>
            <a:srgbClr val="0E8F8F"/>
          </a:solidFill>
          <a:ln cap="flat" cmpd="sng" w="9525">
            <a:solidFill>
              <a:srgbClr val="0E8F8F"/>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FFFFFF"/>
              </a:buClr>
              <a:buSzPts val="1600"/>
              <a:buFont typeface="Arial"/>
              <a:buNone/>
            </a:pPr>
            <a:r>
              <a:rPr b="1" i="0" lang="en" sz="1600" u="none" cap="none" strike="noStrike">
                <a:solidFill>
                  <a:srgbClr val="FFFFFF"/>
                </a:solidFill>
                <a:latin typeface="Arial"/>
                <a:ea typeface="Arial"/>
                <a:cs typeface="Arial"/>
                <a:sym typeface="Arial"/>
              </a:rPr>
              <a:t>55 / 604</a:t>
            </a:r>
            <a:endParaRPr b="0" i="0" sz="16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600"/>
              <a:buFont typeface="Arial"/>
              <a:buNone/>
            </a:pPr>
            <a:r>
              <a:rPr b="1" i="0" lang="en" sz="1600" u="none" cap="none" strike="noStrike">
                <a:solidFill>
                  <a:srgbClr val="FFFFFF"/>
                </a:solidFill>
                <a:latin typeface="Arial"/>
                <a:ea typeface="Arial"/>
                <a:cs typeface="Arial"/>
                <a:sym typeface="Arial"/>
              </a:rPr>
              <a:t>flagged</a:t>
            </a:r>
            <a:endParaRPr b="0" i="0" sz="1600" u="none" cap="none" strike="noStrike">
              <a:solidFill>
                <a:schemeClr val="dk1"/>
              </a:solidFill>
              <a:latin typeface="Arial"/>
              <a:ea typeface="Arial"/>
              <a:cs typeface="Arial"/>
              <a:sym typeface="Arial"/>
            </a:endParaRPr>
          </a:p>
        </p:txBody>
      </p:sp>
      <p:sp>
        <p:nvSpPr>
          <p:cNvPr id="181" name="Google Shape;181;p21"/>
          <p:cNvSpPr/>
          <p:nvPr/>
        </p:nvSpPr>
        <p:spPr>
          <a:xfrm>
            <a:off x="3346704" y="2084832"/>
            <a:ext cx="2331720" cy="397764"/>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rgbClr val="263238"/>
              </a:buClr>
              <a:buSzPts val="900"/>
              <a:buFont typeface="Arial"/>
              <a:buNone/>
            </a:pPr>
            <a:r>
              <a:rPr b="0" i="0" lang="en" sz="900" u="none" cap="none" strike="noStrike">
                <a:solidFill>
                  <a:srgbClr val="263238"/>
                </a:solidFill>
                <a:latin typeface="Arial"/>
                <a:ea typeface="Arial"/>
                <a:cs typeface="Arial"/>
                <a:sym typeface="Arial"/>
              </a:rPr>
              <a:t>9.1% entered a human review queue. The rest were not auto-paid or denied.</a:t>
            </a:r>
            <a:endParaRPr b="0" i="0" sz="900" u="none" cap="none" strike="noStrike">
              <a:solidFill>
                <a:schemeClr val="dk1"/>
              </a:solidFill>
              <a:latin typeface="Arial"/>
              <a:ea typeface="Arial"/>
              <a:cs typeface="Arial"/>
              <a:sym typeface="Arial"/>
            </a:endParaRPr>
          </a:p>
        </p:txBody>
      </p:sp>
      <p:sp>
        <p:nvSpPr>
          <p:cNvPr id="182" name="Google Shape;182;p21"/>
          <p:cNvSpPr/>
          <p:nvPr/>
        </p:nvSpPr>
        <p:spPr>
          <a:xfrm>
            <a:off x="6185916" y="1131570"/>
            <a:ext cx="2434590" cy="857250"/>
          </a:xfrm>
          <a:prstGeom prst="rect">
            <a:avLst/>
          </a:prstGeom>
          <a:solidFill>
            <a:srgbClr val="F7F9FB"/>
          </a:solidFill>
          <a:ln cap="flat" cmpd="sng" w="9525">
            <a:solidFill>
              <a:srgbClr val="D7DEE5"/>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0B1F33"/>
              </a:buClr>
              <a:buSzPts val="1600"/>
              <a:buFont typeface="Arial"/>
              <a:buNone/>
            </a:pPr>
            <a:r>
              <a:rPr b="1" i="0" lang="en" sz="1600" u="none" cap="none" strike="noStrike">
                <a:solidFill>
                  <a:srgbClr val="0B1F33"/>
                </a:solidFill>
                <a:latin typeface="Arial"/>
                <a:ea typeface="Arial"/>
                <a:cs typeface="Arial"/>
                <a:sym typeface="Arial"/>
              </a:rPr>
              <a:t>$5,627.13</a:t>
            </a:r>
            <a:endParaRPr b="0" i="0" sz="16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B1F33"/>
              </a:buClr>
              <a:buSzPts val="1600"/>
              <a:buFont typeface="Arial"/>
              <a:buNone/>
            </a:pPr>
            <a:r>
              <a:rPr b="1" i="0" lang="en" sz="1600" u="none" cap="none" strike="noStrike">
                <a:solidFill>
                  <a:srgbClr val="0B1F33"/>
                </a:solidFill>
                <a:latin typeface="Arial"/>
                <a:ea typeface="Arial"/>
                <a:cs typeface="Arial"/>
                <a:sym typeface="Arial"/>
              </a:rPr>
              <a:t>in scope</a:t>
            </a:r>
            <a:endParaRPr b="0" i="0" sz="1600" u="none" cap="none" strike="noStrike">
              <a:solidFill>
                <a:schemeClr val="dk1"/>
              </a:solidFill>
              <a:latin typeface="Arial"/>
              <a:ea typeface="Arial"/>
              <a:cs typeface="Arial"/>
              <a:sym typeface="Arial"/>
            </a:endParaRPr>
          </a:p>
        </p:txBody>
      </p:sp>
      <p:sp>
        <p:nvSpPr>
          <p:cNvPr id="183" name="Google Shape;183;p21"/>
          <p:cNvSpPr/>
          <p:nvPr/>
        </p:nvSpPr>
        <p:spPr>
          <a:xfrm>
            <a:off x="6227064" y="2084832"/>
            <a:ext cx="2331720" cy="397764"/>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rgbClr val="263238"/>
              </a:buClr>
              <a:buSzPts val="900"/>
              <a:buFont typeface="Arial"/>
              <a:buNone/>
            </a:pPr>
            <a:r>
              <a:rPr b="0" i="0" lang="en" sz="900" u="none" cap="none" strike="noStrike">
                <a:solidFill>
                  <a:srgbClr val="263238"/>
                </a:solidFill>
                <a:latin typeface="Arial"/>
                <a:ea typeface="Arial"/>
                <a:cs typeface="Arial"/>
                <a:sym typeface="Arial"/>
              </a:rPr>
              <a:t>Paid amount on flagged synthetic rows — not overpayment, recovery, fraud, or savings.</a:t>
            </a:r>
            <a:endParaRPr b="0" i="0" sz="900" u="none" cap="none" strike="noStrike">
              <a:solidFill>
                <a:schemeClr val="dk1"/>
              </a:solidFill>
              <a:latin typeface="Arial"/>
              <a:ea typeface="Arial"/>
              <a:cs typeface="Arial"/>
              <a:sym typeface="Arial"/>
            </a:endParaRPr>
          </a:p>
        </p:txBody>
      </p:sp>
      <p:sp>
        <p:nvSpPr>
          <p:cNvPr id="184" name="Google Shape;184;p21"/>
          <p:cNvSpPr/>
          <p:nvPr/>
        </p:nvSpPr>
        <p:spPr>
          <a:xfrm>
            <a:off x="493776" y="2777490"/>
            <a:ext cx="233172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900"/>
              <a:buFont typeface="Arial"/>
              <a:buNone/>
            </a:pPr>
            <a:r>
              <a:rPr b="1" i="0" lang="en" sz="900" u="none" cap="none" strike="noStrike">
                <a:solidFill>
                  <a:srgbClr val="0E8F8F"/>
                </a:solidFill>
                <a:latin typeface="Arial"/>
                <a:ea typeface="Arial"/>
                <a:cs typeface="Arial"/>
                <a:sym typeface="Arial"/>
              </a:rPr>
              <a:t>Flag concentration by change</a:t>
            </a:r>
            <a:endParaRPr b="0" i="0" sz="900" u="none" cap="none" strike="noStrike">
              <a:solidFill>
                <a:schemeClr val="dk1"/>
              </a:solidFill>
              <a:latin typeface="Arial"/>
              <a:ea typeface="Arial"/>
              <a:cs typeface="Arial"/>
              <a:sym typeface="Arial"/>
            </a:endParaRPr>
          </a:p>
        </p:txBody>
      </p:sp>
      <p:sp>
        <p:nvSpPr>
          <p:cNvPr id="185" name="Google Shape;185;p21"/>
          <p:cNvSpPr/>
          <p:nvPr/>
        </p:nvSpPr>
        <p:spPr>
          <a:xfrm>
            <a:off x="562356" y="3106674"/>
            <a:ext cx="51435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KX</a:t>
            </a:r>
            <a:endParaRPr b="0" i="0" sz="800" u="none" cap="none" strike="noStrike">
              <a:solidFill>
                <a:schemeClr val="dk1"/>
              </a:solidFill>
              <a:latin typeface="Arial"/>
              <a:ea typeface="Arial"/>
              <a:cs typeface="Arial"/>
              <a:sym typeface="Arial"/>
            </a:endParaRPr>
          </a:p>
        </p:txBody>
      </p:sp>
      <p:sp>
        <p:nvSpPr>
          <p:cNvPr id="186" name="Google Shape;186;p21"/>
          <p:cNvSpPr/>
          <p:nvPr/>
        </p:nvSpPr>
        <p:spPr>
          <a:xfrm>
            <a:off x="1193292" y="3120390"/>
            <a:ext cx="2125980" cy="192024"/>
          </a:xfrm>
          <a:prstGeom prst="rect">
            <a:avLst/>
          </a:prstGeom>
          <a:solidFill>
            <a:srgbClr val="0E8F8F"/>
          </a:solidFill>
          <a:ln cap="flat" cmpd="sng" w="1270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21"/>
          <p:cNvSpPr/>
          <p:nvPr/>
        </p:nvSpPr>
        <p:spPr>
          <a:xfrm>
            <a:off x="3401568" y="3106674"/>
            <a:ext cx="2743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22</a:t>
            </a:r>
            <a:endParaRPr b="0" i="0" sz="800" u="none" cap="none" strike="noStrike">
              <a:solidFill>
                <a:schemeClr val="dk1"/>
              </a:solidFill>
              <a:latin typeface="Arial"/>
              <a:ea typeface="Arial"/>
              <a:cs typeface="Arial"/>
              <a:sym typeface="Arial"/>
            </a:endParaRPr>
          </a:p>
        </p:txBody>
      </p:sp>
      <p:sp>
        <p:nvSpPr>
          <p:cNvPr id="188" name="Google Shape;188;p21"/>
          <p:cNvSpPr/>
          <p:nvPr/>
        </p:nvSpPr>
        <p:spPr>
          <a:xfrm>
            <a:off x="562356" y="3538728"/>
            <a:ext cx="51435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94662</a:t>
            </a:r>
            <a:endParaRPr b="0" i="0" sz="800" u="none" cap="none" strike="noStrike">
              <a:solidFill>
                <a:schemeClr val="dk1"/>
              </a:solidFill>
              <a:latin typeface="Arial"/>
              <a:ea typeface="Arial"/>
              <a:cs typeface="Arial"/>
              <a:sym typeface="Arial"/>
            </a:endParaRPr>
          </a:p>
        </p:txBody>
      </p:sp>
      <p:sp>
        <p:nvSpPr>
          <p:cNvPr id="189" name="Google Shape;189;p21"/>
          <p:cNvSpPr/>
          <p:nvPr/>
        </p:nvSpPr>
        <p:spPr>
          <a:xfrm>
            <a:off x="1193292" y="3552444"/>
            <a:ext cx="1739438" cy="192024"/>
          </a:xfrm>
          <a:prstGeom prst="rect">
            <a:avLst/>
          </a:prstGeom>
          <a:solidFill>
            <a:srgbClr val="0B1F33"/>
          </a:solidFill>
          <a:ln cap="flat" cmpd="sng" w="12700">
            <a:solidFill>
              <a:srgbClr val="0B1F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0" name="Google Shape;190;p21"/>
          <p:cNvSpPr/>
          <p:nvPr/>
        </p:nvSpPr>
        <p:spPr>
          <a:xfrm>
            <a:off x="3401568" y="3538728"/>
            <a:ext cx="2743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18</a:t>
            </a:r>
            <a:endParaRPr b="0" i="0" sz="800" u="none" cap="none" strike="noStrike">
              <a:solidFill>
                <a:schemeClr val="dk1"/>
              </a:solidFill>
              <a:latin typeface="Arial"/>
              <a:ea typeface="Arial"/>
              <a:cs typeface="Arial"/>
              <a:sym typeface="Arial"/>
            </a:endParaRPr>
          </a:p>
        </p:txBody>
      </p:sp>
      <p:sp>
        <p:nvSpPr>
          <p:cNvPr id="191" name="Google Shape;191;p21"/>
          <p:cNvSpPr/>
          <p:nvPr/>
        </p:nvSpPr>
        <p:spPr>
          <a:xfrm>
            <a:off x="562356" y="3970782"/>
            <a:ext cx="51435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Q3014</a:t>
            </a:r>
            <a:endParaRPr b="0" i="0" sz="800" u="none" cap="none" strike="noStrike">
              <a:solidFill>
                <a:schemeClr val="dk1"/>
              </a:solidFill>
              <a:latin typeface="Arial"/>
              <a:ea typeface="Arial"/>
              <a:cs typeface="Arial"/>
              <a:sym typeface="Arial"/>
            </a:endParaRPr>
          </a:p>
        </p:txBody>
      </p:sp>
      <p:sp>
        <p:nvSpPr>
          <p:cNvPr id="192" name="Google Shape;192;p21"/>
          <p:cNvSpPr/>
          <p:nvPr/>
        </p:nvSpPr>
        <p:spPr>
          <a:xfrm>
            <a:off x="1193292" y="3984498"/>
            <a:ext cx="966355" cy="192024"/>
          </a:xfrm>
          <a:prstGeom prst="rect">
            <a:avLst/>
          </a:prstGeom>
          <a:solidFill>
            <a:srgbClr val="0B1F33"/>
          </a:solidFill>
          <a:ln cap="flat" cmpd="sng" w="12700">
            <a:solidFill>
              <a:srgbClr val="0B1F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3" name="Google Shape;193;p21"/>
          <p:cNvSpPr/>
          <p:nvPr/>
        </p:nvSpPr>
        <p:spPr>
          <a:xfrm>
            <a:off x="3401568" y="3970782"/>
            <a:ext cx="2743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10</a:t>
            </a:r>
            <a:endParaRPr b="0" i="0" sz="800" u="none" cap="none" strike="noStrike">
              <a:solidFill>
                <a:schemeClr val="dk1"/>
              </a:solidFill>
              <a:latin typeface="Arial"/>
              <a:ea typeface="Arial"/>
              <a:cs typeface="Arial"/>
              <a:sym typeface="Arial"/>
            </a:endParaRPr>
          </a:p>
        </p:txBody>
      </p:sp>
      <p:sp>
        <p:nvSpPr>
          <p:cNvPr id="194" name="Google Shape;194;p21"/>
          <p:cNvSpPr/>
          <p:nvPr/>
        </p:nvSpPr>
        <p:spPr>
          <a:xfrm>
            <a:off x="562356" y="4402836"/>
            <a:ext cx="51435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RTM</a:t>
            </a:r>
            <a:endParaRPr b="0" i="0" sz="800" u="none" cap="none" strike="noStrike">
              <a:solidFill>
                <a:schemeClr val="dk1"/>
              </a:solidFill>
              <a:latin typeface="Arial"/>
              <a:ea typeface="Arial"/>
              <a:cs typeface="Arial"/>
              <a:sym typeface="Arial"/>
            </a:endParaRPr>
          </a:p>
        </p:txBody>
      </p:sp>
      <p:sp>
        <p:nvSpPr>
          <p:cNvPr id="195" name="Google Shape;195;p21"/>
          <p:cNvSpPr/>
          <p:nvPr/>
        </p:nvSpPr>
        <p:spPr>
          <a:xfrm>
            <a:off x="1193292" y="4416552"/>
            <a:ext cx="483177" cy="192024"/>
          </a:xfrm>
          <a:prstGeom prst="rect">
            <a:avLst/>
          </a:prstGeom>
          <a:solidFill>
            <a:srgbClr val="0B1F33"/>
          </a:solidFill>
          <a:ln cap="flat" cmpd="sng" w="12700">
            <a:solidFill>
              <a:srgbClr val="0B1F3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21"/>
          <p:cNvSpPr/>
          <p:nvPr/>
        </p:nvSpPr>
        <p:spPr>
          <a:xfrm>
            <a:off x="3401568" y="4402836"/>
            <a:ext cx="2743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5</a:t>
            </a:r>
            <a:endParaRPr b="0" i="0" sz="800" u="none" cap="none" strike="noStrike">
              <a:solidFill>
                <a:schemeClr val="dk1"/>
              </a:solidFill>
              <a:latin typeface="Arial"/>
              <a:ea typeface="Arial"/>
              <a:cs typeface="Arial"/>
              <a:sym typeface="Arial"/>
            </a:endParaRPr>
          </a:p>
        </p:txBody>
      </p:sp>
      <p:sp>
        <p:nvSpPr>
          <p:cNvPr id="197" name="Google Shape;197;p21"/>
          <p:cNvSpPr/>
          <p:nvPr/>
        </p:nvSpPr>
        <p:spPr>
          <a:xfrm>
            <a:off x="3703325" y="2770626"/>
            <a:ext cx="4766400" cy="2009400"/>
          </a:xfrm>
          <a:prstGeom prst="rect">
            <a:avLst/>
          </a:prstGeom>
          <a:solidFill>
            <a:srgbClr val="F1F5F8"/>
          </a:solidFill>
          <a:ln cap="flat" cmpd="sng" w="9525">
            <a:solidFill>
              <a:srgbClr val="D7DEE5"/>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0B1F33"/>
              </a:buClr>
              <a:buSzPts val="1000"/>
              <a:buFont typeface="Arial"/>
              <a:buNone/>
            </a:pPr>
            <a:r>
              <a:rPr i="0" lang="en" sz="1200" u="none" cap="none" strike="noStrike">
                <a:solidFill>
                  <a:srgbClr val="0B1F33"/>
                </a:solidFill>
              </a:rPr>
              <a:t>Illustrative time scenario — not a measured labor study</a:t>
            </a:r>
            <a:endParaRPr i="0" sz="1200" u="none" cap="none" strike="noStrike">
              <a:solidFill>
                <a:srgbClr val="0B1F33"/>
              </a:solidFill>
            </a:endParaRPr>
          </a:p>
          <a:p>
            <a:pPr indent="0" lvl="0" marL="0" marR="0" rtl="0" algn="ctr">
              <a:spcBef>
                <a:spcPts val="0"/>
              </a:spcBef>
              <a:spcAft>
                <a:spcPts val="0"/>
              </a:spcAft>
              <a:buClr>
                <a:srgbClr val="0B1F33"/>
              </a:buClr>
              <a:buSzPts val="1000"/>
              <a:buFont typeface="Arial"/>
              <a:buNone/>
            </a:pPr>
            <a:r>
              <a:t/>
            </a:r>
            <a:endParaRPr b="1" sz="1200">
              <a:solidFill>
                <a:srgbClr val="0B1F33"/>
              </a:solidFill>
            </a:endParaRPr>
          </a:p>
          <a:p>
            <a:pPr indent="0" lvl="0" marL="0" marR="0" rtl="0" algn="ctr">
              <a:spcBef>
                <a:spcPts val="0"/>
              </a:spcBef>
              <a:spcAft>
                <a:spcPts val="0"/>
              </a:spcAft>
              <a:buClr>
                <a:srgbClr val="0B1F33"/>
              </a:buClr>
              <a:buSzPts val="1000"/>
              <a:buFont typeface="Arial"/>
              <a:buNone/>
            </a:pPr>
            <a:r>
              <a:rPr b="1" i="0" lang="en" sz="1200" u="none" cap="none" strike="noStrike">
                <a:solidFill>
                  <a:srgbClr val="0B1F33"/>
                </a:solidFill>
                <a:latin typeface="Arial"/>
                <a:ea typeface="Arial"/>
                <a:cs typeface="Arial"/>
                <a:sym typeface="Arial"/>
              </a:rPr>
              <a:t>Manual: 604 × 2 min ≈ 20.1 hours</a:t>
            </a:r>
            <a:endParaRPr b="0" i="0" sz="12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B1F33"/>
              </a:buClr>
              <a:buSzPts val="1000"/>
              <a:buFont typeface="Arial"/>
              <a:buNone/>
            </a:pPr>
            <a:r>
              <a:rPr b="1" i="0" lang="en" sz="1200" u="none" cap="none" strike="noStrike">
                <a:solidFill>
                  <a:srgbClr val="0B1F33"/>
                </a:solidFill>
                <a:latin typeface="Arial"/>
                <a:ea typeface="Arial"/>
                <a:cs typeface="Arial"/>
                <a:sym typeface="Arial"/>
              </a:rPr>
              <a:t>PolicyGuard path: 5 × 10 min + 55 × 2 min ≈</a:t>
            </a:r>
            <a:r>
              <a:rPr b="1" i="0" lang="en" sz="1900" u="none" cap="none" strike="noStrike">
                <a:solidFill>
                  <a:srgbClr val="0B1F33"/>
                </a:solidFill>
                <a:latin typeface="Arial"/>
                <a:ea typeface="Arial"/>
                <a:cs typeface="Arial"/>
                <a:sym typeface="Arial"/>
              </a:rPr>
              <a:t> 2.7 hours</a:t>
            </a:r>
            <a:endParaRPr b="1" i="0" sz="1900" u="none" cap="none" strike="noStrike">
              <a:solidFill>
                <a:srgbClr val="0B1F33"/>
              </a:solidFill>
              <a:latin typeface="Arial"/>
              <a:ea typeface="Arial"/>
              <a:cs typeface="Arial"/>
              <a:sym typeface="Arial"/>
            </a:endParaRPr>
          </a:p>
          <a:p>
            <a:pPr indent="0" lvl="0" marL="0" marR="0" rtl="0" algn="ctr">
              <a:spcBef>
                <a:spcPts val="0"/>
              </a:spcBef>
              <a:spcAft>
                <a:spcPts val="0"/>
              </a:spcAft>
              <a:buClr>
                <a:srgbClr val="0B1F33"/>
              </a:buClr>
              <a:buSzPts val="1000"/>
              <a:buFont typeface="Arial"/>
              <a:buNone/>
            </a:pPr>
            <a:r>
              <a:t/>
            </a:r>
            <a:endParaRPr b="1" sz="1200">
              <a:solidFill>
                <a:srgbClr val="0B1F33"/>
              </a:solidFill>
            </a:endParaRPr>
          </a:p>
          <a:p>
            <a:pPr indent="0" lvl="0" marL="0" marR="0" rtl="0" algn="ctr">
              <a:spcBef>
                <a:spcPts val="0"/>
              </a:spcBef>
              <a:spcAft>
                <a:spcPts val="0"/>
              </a:spcAft>
              <a:buClr>
                <a:srgbClr val="0B1F33"/>
              </a:buClr>
              <a:buSzPts val="1000"/>
              <a:buFont typeface="Arial"/>
              <a:buNone/>
            </a:pPr>
            <a:r>
              <a:rPr b="1" i="0" lang="en" sz="1200" u="none" cap="none" strike="noStrike">
                <a:solidFill>
                  <a:srgbClr val="0B1F33"/>
                </a:solidFill>
                <a:latin typeface="Arial"/>
                <a:ea typeface="Arial"/>
                <a:cs typeface="Arial"/>
                <a:sym typeface="Arial"/>
              </a:rPr>
              <a:t>≈ </a:t>
            </a:r>
            <a:r>
              <a:rPr b="1" i="0" lang="en" sz="1900" u="none" cap="none" strike="noStrike">
                <a:solidFill>
                  <a:srgbClr val="0B1F33"/>
                </a:solidFill>
              </a:rPr>
              <a:t>17 hours</a:t>
            </a:r>
            <a:r>
              <a:rPr b="1" i="0" lang="en" sz="1200" u="none" cap="none" strike="noStrike">
                <a:solidFill>
                  <a:srgbClr val="0B1F33"/>
                </a:solidFill>
                <a:latin typeface="Arial"/>
                <a:ea typeface="Arial"/>
                <a:cs typeface="Arial"/>
                <a:sym typeface="Arial"/>
              </a:rPr>
              <a:t> less effort only under these assumptions</a:t>
            </a:r>
            <a:endParaRPr b="0" i="0" sz="1200" u="none" cap="none" strike="noStrike">
              <a:solidFill>
                <a:schemeClr val="dk1"/>
              </a:solidFill>
              <a:latin typeface="Arial"/>
              <a:ea typeface="Arial"/>
              <a:cs typeface="Arial"/>
              <a:sym typeface="Arial"/>
            </a:endParaRPr>
          </a:p>
        </p:txBody>
      </p:sp>
      <p:sp>
        <p:nvSpPr>
          <p:cNvPr id="198" name="Google Shape;198;p21"/>
          <p:cNvSpPr/>
          <p:nvPr/>
        </p:nvSpPr>
        <p:spPr>
          <a:xfrm>
            <a:off x="342900" y="4780026"/>
            <a:ext cx="7475220" cy="1577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600"/>
              <a:buFont typeface="Arial"/>
              <a:buNone/>
            </a:pPr>
            <a:r>
              <a:rPr b="0" i="0" lang="en" sz="600" u="none" cap="none" strike="noStrike">
                <a:solidFill>
                  <a:srgbClr val="667085"/>
                </a:solidFill>
                <a:latin typeface="Arial"/>
                <a:ea typeface="Arial"/>
                <a:cs typeface="Arial"/>
                <a:sym typeface="Arial"/>
              </a:rPr>
              <a:t>Results from paper/repo: synthetic claims only; not precision, recall, FTE, dollar savings, or production recovery.</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sp>
        <p:nvSpPr>
          <p:cNvPr id="204" name="Google Shape;204;p22"/>
          <p:cNvSpPr/>
          <p:nvPr/>
        </p:nvSpPr>
        <p:spPr>
          <a:xfrm>
            <a:off x="0" y="0"/>
            <a:ext cx="9143771" cy="68580"/>
          </a:xfrm>
          <a:prstGeom prst="rect">
            <a:avLst/>
          </a:prstGeom>
          <a:solidFill>
            <a:srgbClr val="0E8F8F"/>
          </a:solidFill>
          <a:ln cap="flat" cmpd="sng" w="12700">
            <a:solidFill>
              <a:srgbClr val="0E8F8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5" name="Google Shape;205;p22"/>
          <p:cNvSpPr/>
          <p:nvPr/>
        </p:nvSpPr>
        <p:spPr>
          <a:xfrm>
            <a:off x="329184" y="178308"/>
            <a:ext cx="1508760"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700"/>
              <a:buFont typeface="Arial"/>
              <a:buNone/>
            </a:pPr>
            <a:r>
              <a:rPr b="1" i="0" lang="en" sz="700" u="none" cap="none" strike="noStrike">
                <a:solidFill>
                  <a:srgbClr val="0E8F8F"/>
                </a:solidFill>
                <a:latin typeface="Arial"/>
                <a:ea typeface="Arial"/>
                <a:cs typeface="Arial"/>
                <a:sym typeface="Arial"/>
              </a:rPr>
              <a:t>CONCLUSION</a:t>
            </a:r>
            <a:endParaRPr b="0" i="0" sz="700" u="none" cap="none" strike="noStrike">
              <a:solidFill>
                <a:schemeClr val="dk1"/>
              </a:solidFill>
              <a:latin typeface="Arial"/>
              <a:ea typeface="Arial"/>
              <a:cs typeface="Arial"/>
              <a:sym typeface="Arial"/>
            </a:endParaRPr>
          </a:p>
        </p:txBody>
      </p:sp>
      <p:sp>
        <p:nvSpPr>
          <p:cNvPr id="206" name="Google Shape;206;p22"/>
          <p:cNvSpPr/>
          <p:nvPr/>
        </p:nvSpPr>
        <p:spPr>
          <a:xfrm>
            <a:off x="8366760" y="4786884"/>
            <a:ext cx="377190" cy="17145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00"/>
              <a:buFont typeface="Arial"/>
              <a:buNone/>
            </a:pPr>
            <a:r>
              <a:rPr b="0" i="0" lang="en" sz="700" u="none" cap="none" strike="noStrike">
                <a:solidFill>
                  <a:srgbClr val="667085"/>
                </a:solidFill>
                <a:latin typeface="Arial"/>
                <a:ea typeface="Arial"/>
                <a:cs typeface="Arial"/>
                <a:sym typeface="Arial"/>
              </a:rPr>
              <a:t>08</a:t>
            </a:r>
            <a:endParaRPr b="0" i="0" sz="700" u="none" cap="none" strike="noStrike">
              <a:solidFill>
                <a:schemeClr val="dk1"/>
              </a:solidFill>
              <a:latin typeface="Arial"/>
              <a:ea typeface="Arial"/>
              <a:cs typeface="Arial"/>
              <a:sym typeface="Arial"/>
            </a:endParaRPr>
          </a:p>
        </p:txBody>
      </p:sp>
      <p:cxnSp>
        <p:nvCxnSpPr>
          <p:cNvPr id="207" name="Google Shape;207;p22"/>
          <p:cNvCxnSpPr/>
          <p:nvPr/>
        </p:nvCxnSpPr>
        <p:spPr>
          <a:xfrm>
            <a:off x="329184" y="4704588"/>
            <a:ext cx="8469630" cy="0"/>
          </a:xfrm>
          <a:prstGeom prst="straightConnector1">
            <a:avLst/>
          </a:prstGeom>
          <a:noFill/>
          <a:ln cap="flat" cmpd="sng" w="9525">
            <a:solidFill>
              <a:srgbClr val="D7DEE5"/>
            </a:solidFill>
            <a:prstDash val="solid"/>
            <a:round/>
            <a:headEnd len="sm" w="sm" type="none"/>
            <a:tailEnd len="sm" w="sm" type="none"/>
          </a:ln>
        </p:spPr>
      </p:cxnSp>
      <p:sp>
        <p:nvSpPr>
          <p:cNvPr id="208" name="Google Shape;208;p22"/>
          <p:cNvSpPr/>
          <p:nvPr/>
        </p:nvSpPr>
        <p:spPr>
          <a:xfrm>
            <a:off x="329184" y="438912"/>
            <a:ext cx="6035040" cy="3429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0B1F33"/>
              </a:buClr>
              <a:buSzPts val="1900"/>
              <a:buFont typeface="Arial"/>
              <a:buNone/>
            </a:pPr>
            <a:r>
              <a:rPr b="1" i="0" lang="en" sz="1900" u="none" cap="none" strike="noStrike">
                <a:solidFill>
                  <a:srgbClr val="0B1F33"/>
                </a:solidFill>
                <a:latin typeface="Arial"/>
                <a:ea typeface="Arial"/>
                <a:cs typeface="Arial"/>
                <a:sym typeface="Arial"/>
              </a:rPr>
              <a:t>Pilot as a validation layer, not adjudication</a:t>
            </a:r>
            <a:endParaRPr b="0" i="0" sz="1900" u="none" cap="none" strike="noStrike">
              <a:solidFill>
                <a:schemeClr val="dk1"/>
              </a:solidFill>
              <a:latin typeface="Arial"/>
              <a:ea typeface="Arial"/>
              <a:cs typeface="Arial"/>
              <a:sym typeface="Arial"/>
            </a:endParaRPr>
          </a:p>
        </p:txBody>
      </p:sp>
      <p:sp>
        <p:nvSpPr>
          <p:cNvPr id="209" name="Google Shape;209;p22"/>
          <p:cNvSpPr/>
          <p:nvPr/>
        </p:nvSpPr>
        <p:spPr>
          <a:xfrm>
            <a:off x="342900" y="809244"/>
            <a:ext cx="65151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en" sz="900" u="none" cap="none" strike="noStrike">
                <a:solidFill>
                  <a:srgbClr val="667085"/>
                </a:solidFill>
                <a:latin typeface="Arial"/>
                <a:ea typeface="Arial"/>
                <a:cs typeface="Arial"/>
                <a:sym typeface="Arial"/>
              </a:rPr>
              <a:t>Best fit: upstream of payment-policy execution, next to expert review.</a:t>
            </a:r>
            <a:endParaRPr b="0" i="0" sz="900" u="none" cap="none" strike="noStrike">
              <a:solidFill>
                <a:schemeClr val="dk1"/>
              </a:solidFill>
              <a:latin typeface="Arial"/>
              <a:ea typeface="Arial"/>
              <a:cs typeface="Arial"/>
              <a:sym typeface="Arial"/>
            </a:endParaRPr>
          </a:p>
        </p:txBody>
      </p:sp>
      <p:sp>
        <p:nvSpPr>
          <p:cNvPr id="210" name="Google Shape;210;p22"/>
          <p:cNvSpPr/>
          <p:nvPr/>
        </p:nvSpPr>
        <p:spPr>
          <a:xfrm>
            <a:off x="514350" y="1165860"/>
            <a:ext cx="2503170" cy="651510"/>
          </a:xfrm>
          <a:prstGeom prst="rect">
            <a:avLst/>
          </a:prstGeom>
          <a:solidFill>
            <a:srgbClr val="E8F6F3"/>
          </a:solidFill>
          <a:ln cap="flat" cmpd="sng" w="9525">
            <a:solidFill>
              <a:srgbClr val="BDE5DE"/>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0B1F33"/>
              </a:buClr>
              <a:buSzPts val="1200"/>
              <a:buFont typeface="Arial"/>
              <a:buNone/>
            </a:pPr>
            <a:r>
              <a:rPr b="1" i="0" lang="en" sz="1200" u="none" cap="none" strike="noStrike">
                <a:solidFill>
                  <a:srgbClr val="0B1F33"/>
                </a:solidFill>
                <a:latin typeface="Arial"/>
                <a:ea typeface="Arial"/>
                <a:cs typeface="Arial"/>
                <a:sym typeface="Arial"/>
              </a:rPr>
              <a:t>Use for clear numeric and code-list edits</a:t>
            </a:r>
            <a:endParaRPr b="0" i="0" sz="1200" u="none" cap="none" strike="noStrike">
              <a:solidFill>
                <a:schemeClr val="dk1"/>
              </a:solidFill>
              <a:latin typeface="Arial"/>
              <a:ea typeface="Arial"/>
              <a:cs typeface="Arial"/>
              <a:sym typeface="Arial"/>
            </a:endParaRPr>
          </a:p>
        </p:txBody>
      </p:sp>
      <p:sp>
        <p:nvSpPr>
          <p:cNvPr id="211" name="Google Shape;211;p22"/>
          <p:cNvSpPr/>
          <p:nvPr/>
        </p:nvSpPr>
        <p:spPr>
          <a:xfrm>
            <a:off x="3312414" y="1165860"/>
            <a:ext cx="2503170" cy="651510"/>
          </a:xfrm>
          <a:prstGeom prst="rect">
            <a:avLst/>
          </a:prstGeom>
          <a:solidFill>
            <a:srgbClr val="FFF3CD"/>
          </a:solidFill>
          <a:ln cap="flat" cmpd="sng" w="9525">
            <a:solidFill>
              <a:srgbClr val="E7C97B"/>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7A4E00"/>
              </a:buClr>
              <a:buSzPts val="1200"/>
              <a:buFont typeface="Arial"/>
              <a:buNone/>
            </a:pPr>
            <a:r>
              <a:rPr b="1" i="0" lang="en" sz="1200" u="none" cap="none" strike="noStrike">
                <a:solidFill>
                  <a:srgbClr val="7A4E00"/>
                </a:solidFill>
                <a:latin typeface="Arial"/>
                <a:ea typeface="Arial"/>
                <a:cs typeface="Arial"/>
                <a:sym typeface="Arial"/>
              </a:rPr>
              <a:t>Keep humans on ambiguous clinical language</a:t>
            </a:r>
            <a:endParaRPr b="0" i="0" sz="1200" u="none" cap="none" strike="noStrike">
              <a:solidFill>
                <a:schemeClr val="dk1"/>
              </a:solidFill>
              <a:latin typeface="Arial"/>
              <a:ea typeface="Arial"/>
              <a:cs typeface="Arial"/>
              <a:sym typeface="Arial"/>
            </a:endParaRPr>
          </a:p>
        </p:txBody>
      </p:sp>
      <p:sp>
        <p:nvSpPr>
          <p:cNvPr id="212" name="Google Shape;212;p22"/>
          <p:cNvSpPr/>
          <p:nvPr/>
        </p:nvSpPr>
        <p:spPr>
          <a:xfrm>
            <a:off x="6110478" y="1165860"/>
            <a:ext cx="2503170" cy="651510"/>
          </a:xfrm>
          <a:prstGeom prst="rect">
            <a:avLst/>
          </a:prstGeom>
          <a:solidFill>
            <a:srgbClr val="0B1F33"/>
          </a:solidFill>
          <a:ln cap="flat" cmpd="sng" w="9525">
            <a:solidFill>
              <a:srgbClr val="0B1F33"/>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Never convert flags into automatic denials</a:t>
            </a:r>
            <a:endParaRPr b="0" i="0" sz="1200" u="none" cap="none" strike="noStrike">
              <a:solidFill>
                <a:schemeClr val="dk1"/>
              </a:solidFill>
              <a:latin typeface="Arial"/>
              <a:ea typeface="Arial"/>
              <a:cs typeface="Arial"/>
              <a:sym typeface="Arial"/>
            </a:endParaRPr>
          </a:p>
        </p:txBody>
      </p:sp>
      <p:sp>
        <p:nvSpPr>
          <p:cNvPr id="213" name="Google Shape;213;p22"/>
          <p:cNvSpPr/>
          <p:nvPr/>
        </p:nvSpPr>
        <p:spPr>
          <a:xfrm>
            <a:off x="514350" y="2297430"/>
            <a:ext cx="30861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F8F"/>
              </a:buClr>
              <a:buSzPts val="900"/>
              <a:buFont typeface="Arial"/>
              <a:buNone/>
            </a:pPr>
            <a:r>
              <a:rPr b="1" i="0" lang="en" sz="900" u="none" cap="none" strike="noStrike">
                <a:solidFill>
                  <a:srgbClr val="0E8F8F"/>
                </a:solidFill>
                <a:latin typeface="Arial"/>
                <a:ea typeface="Arial"/>
                <a:cs typeface="Arial"/>
                <a:sym typeface="Arial"/>
              </a:rPr>
              <a:t>Recommended 90-day internal pilot</a:t>
            </a:r>
            <a:endParaRPr b="0" i="0" sz="900" u="none" cap="none" strike="noStrike">
              <a:solidFill>
                <a:schemeClr val="dk1"/>
              </a:solidFill>
              <a:latin typeface="Arial"/>
              <a:ea typeface="Arial"/>
              <a:cs typeface="Arial"/>
              <a:sym typeface="Arial"/>
            </a:endParaRPr>
          </a:p>
        </p:txBody>
      </p:sp>
      <p:sp>
        <p:nvSpPr>
          <p:cNvPr id="214" name="Google Shape;214;p22"/>
          <p:cNvSpPr/>
          <p:nvPr/>
        </p:nvSpPr>
        <p:spPr>
          <a:xfrm>
            <a:off x="514350" y="2564892"/>
            <a:ext cx="1062990" cy="301752"/>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263238"/>
              </a:buClr>
              <a:buSzPts val="800"/>
              <a:buFont typeface="Arial"/>
              <a:buNone/>
            </a:pPr>
            <a:r>
              <a:rPr b="1" i="0" lang="en" sz="800" u="none" cap="none" strike="noStrike">
                <a:solidFill>
                  <a:srgbClr val="263238"/>
                </a:solidFill>
                <a:latin typeface="Arial"/>
                <a:ea typeface="Arial"/>
                <a:cs typeface="Arial"/>
                <a:sym typeface="Arial"/>
              </a:rPr>
              <a:t>Inputs</a:t>
            </a:r>
            <a:endParaRPr b="0" i="0" sz="800" u="none" cap="none" strike="noStrike">
              <a:solidFill>
                <a:schemeClr val="dk1"/>
              </a:solidFill>
              <a:latin typeface="Arial"/>
              <a:ea typeface="Arial"/>
              <a:cs typeface="Arial"/>
              <a:sym typeface="Arial"/>
            </a:endParaRPr>
          </a:p>
        </p:txBody>
      </p:sp>
      <p:sp>
        <p:nvSpPr>
          <p:cNvPr id="215" name="Google Shape;215;p22"/>
          <p:cNvSpPr/>
          <p:nvPr/>
        </p:nvSpPr>
        <p:spPr>
          <a:xfrm>
            <a:off x="1577340" y="2564892"/>
            <a:ext cx="6892290" cy="301752"/>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Expert-labeled policy changes + governed retrospective data</a:t>
            </a:r>
            <a:endParaRPr b="0" i="0" sz="800" u="none" cap="none" strike="noStrike">
              <a:solidFill>
                <a:schemeClr val="dk1"/>
              </a:solidFill>
              <a:latin typeface="Arial"/>
              <a:ea typeface="Arial"/>
              <a:cs typeface="Arial"/>
              <a:sym typeface="Arial"/>
            </a:endParaRPr>
          </a:p>
        </p:txBody>
      </p:sp>
      <p:sp>
        <p:nvSpPr>
          <p:cNvPr id="216" name="Google Shape;216;p22"/>
          <p:cNvSpPr/>
          <p:nvPr/>
        </p:nvSpPr>
        <p:spPr>
          <a:xfrm>
            <a:off x="514350" y="2866644"/>
            <a:ext cx="1062990" cy="425196"/>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263238"/>
              </a:buClr>
              <a:buSzPts val="800"/>
              <a:buFont typeface="Arial"/>
              <a:buNone/>
            </a:pPr>
            <a:r>
              <a:rPr b="1" i="0" lang="en" sz="800" u="none" cap="none" strike="noStrike">
                <a:solidFill>
                  <a:srgbClr val="263238"/>
                </a:solidFill>
                <a:latin typeface="Arial"/>
                <a:ea typeface="Arial"/>
                <a:cs typeface="Arial"/>
                <a:sym typeface="Arial"/>
              </a:rPr>
              <a:t>Measures</a:t>
            </a:r>
            <a:endParaRPr b="0" i="0" sz="800" u="none" cap="none" strike="noStrike">
              <a:solidFill>
                <a:schemeClr val="dk1"/>
              </a:solidFill>
              <a:latin typeface="Arial"/>
              <a:ea typeface="Arial"/>
              <a:cs typeface="Arial"/>
              <a:sym typeface="Arial"/>
            </a:endParaRPr>
          </a:p>
        </p:txBody>
      </p:sp>
      <p:sp>
        <p:nvSpPr>
          <p:cNvPr id="217" name="Google Shape;217;p22"/>
          <p:cNvSpPr/>
          <p:nvPr/>
        </p:nvSpPr>
        <p:spPr>
          <a:xfrm>
            <a:off x="1577340" y="2866644"/>
            <a:ext cx="6892290" cy="425196"/>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Source provenance, rule acceptance, abstention quality, queue size, false-positive burden, reviewer time</a:t>
            </a:r>
            <a:endParaRPr b="0" i="0" sz="800" u="none" cap="none" strike="noStrike">
              <a:solidFill>
                <a:schemeClr val="dk1"/>
              </a:solidFill>
              <a:latin typeface="Arial"/>
              <a:ea typeface="Arial"/>
              <a:cs typeface="Arial"/>
              <a:sym typeface="Arial"/>
            </a:endParaRPr>
          </a:p>
        </p:txBody>
      </p:sp>
      <p:sp>
        <p:nvSpPr>
          <p:cNvPr id="218" name="Google Shape;218;p22"/>
          <p:cNvSpPr/>
          <p:nvPr/>
        </p:nvSpPr>
        <p:spPr>
          <a:xfrm>
            <a:off x="514350" y="3291840"/>
            <a:ext cx="1062990" cy="336042"/>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263238"/>
              </a:buClr>
              <a:buSzPts val="800"/>
              <a:buFont typeface="Arial"/>
              <a:buNone/>
            </a:pPr>
            <a:r>
              <a:rPr b="1" i="0" lang="en" sz="800" u="none" cap="none" strike="noStrike">
                <a:solidFill>
                  <a:srgbClr val="263238"/>
                </a:solidFill>
                <a:latin typeface="Arial"/>
                <a:ea typeface="Arial"/>
                <a:cs typeface="Arial"/>
                <a:sym typeface="Arial"/>
              </a:rPr>
              <a:t>Success test</a:t>
            </a:r>
            <a:endParaRPr b="0" i="0" sz="800" u="none" cap="none" strike="noStrike">
              <a:solidFill>
                <a:schemeClr val="dk1"/>
              </a:solidFill>
              <a:latin typeface="Arial"/>
              <a:ea typeface="Arial"/>
              <a:cs typeface="Arial"/>
              <a:sym typeface="Arial"/>
            </a:endParaRPr>
          </a:p>
        </p:txBody>
      </p:sp>
      <p:sp>
        <p:nvSpPr>
          <p:cNvPr id="219" name="Google Shape;219;p22"/>
          <p:cNvSpPr/>
          <p:nvPr/>
        </p:nvSpPr>
        <p:spPr>
          <a:xfrm>
            <a:off x="1577340" y="3291840"/>
            <a:ext cx="6892290" cy="336042"/>
          </a:xfrm>
          <a:prstGeom prst="rect">
            <a:avLst/>
          </a:prstGeom>
          <a:solidFill>
            <a:srgbClr val="FFFFFF"/>
          </a:solidFill>
          <a:ln cap="flat" cmpd="sng" w="9525">
            <a:solidFill>
              <a:srgbClr val="D7DEE5"/>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263238"/>
              </a:buClr>
              <a:buSzPts val="800"/>
              <a:buFont typeface="Arial"/>
              <a:buNone/>
            </a:pPr>
            <a:r>
              <a:rPr b="0" i="0" lang="en" sz="800" u="none" cap="none" strike="noStrike">
                <a:solidFill>
                  <a:srgbClr val="263238"/>
                </a:solidFill>
                <a:latin typeface="Arial"/>
                <a:ea typeface="Arial"/>
                <a:cs typeface="Arial"/>
                <a:sym typeface="Arial"/>
              </a:rPr>
              <a:t>Faster evidence-to-rule handoff without losing traceability or expert accountability</a:t>
            </a:r>
            <a:endParaRPr b="0" i="0" sz="800" u="none" cap="none" strike="noStrike">
              <a:solidFill>
                <a:schemeClr val="dk1"/>
              </a:solidFill>
              <a:latin typeface="Arial"/>
              <a:ea typeface="Arial"/>
              <a:cs typeface="Arial"/>
              <a:sym typeface="Arial"/>
            </a:endParaRPr>
          </a:p>
        </p:txBody>
      </p:sp>
      <p:sp>
        <p:nvSpPr>
          <p:cNvPr id="220" name="Google Shape;220;p22"/>
          <p:cNvSpPr/>
          <p:nvPr/>
        </p:nvSpPr>
        <p:spPr>
          <a:xfrm>
            <a:off x="514350" y="3943350"/>
            <a:ext cx="7955280" cy="425196"/>
          </a:xfrm>
          <a:prstGeom prst="rect">
            <a:avLst/>
          </a:prstGeom>
          <a:solidFill>
            <a:srgbClr val="0E8F8F"/>
          </a:solidFill>
          <a:ln cap="flat" cmpd="sng" w="9525">
            <a:solidFill>
              <a:srgbClr val="0E8F8F"/>
            </a:solidFill>
            <a:prstDash val="solid"/>
            <a:round/>
            <a:headEnd len="sm" w="sm" type="none"/>
            <a:tailEnd len="sm" w="sm" type="none"/>
          </a:ln>
        </p:spPr>
        <p:txBody>
          <a:bodyPr anchorCtr="0" anchor="ctr" bIns="1125" lIns="1125" spcFirstLastPara="1" rIns="1125" wrap="square" tIns="1125">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Close: save reviewer time by interpreting policy once — not 604 times — with a source trail.</a:t>
            </a:r>
            <a:endParaRPr b="0" i="0" sz="1200" u="none" cap="none" strike="noStrike">
              <a:solidFill>
                <a:schemeClr val="dk1"/>
              </a:solidFill>
              <a:latin typeface="Arial"/>
              <a:ea typeface="Arial"/>
              <a:cs typeface="Arial"/>
              <a:sym typeface="Arial"/>
            </a:endParaRPr>
          </a:p>
        </p:txBody>
      </p:sp>
      <p:sp>
        <p:nvSpPr>
          <p:cNvPr id="221" name="Google Shape;221;p22"/>
          <p:cNvSpPr/>
          <p:nvPr/>
        </p:nvSpPr>
        <p:spPr>
          <a:xfrm>
            <a:off x="342900" y="4780026"/>
            <a:ext cx="7475220" cy="1577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600"/>
              <a:buFont typeface="Arial"/>
              <a:buNone/>
            </a:pPr>
            <a:r>
              <a:rPr b="0" i="0" lang="en" sz="600" u="none" cap="none" strike="noStrike">
                <a:solidFill>
                  <a:srgbClr val="667085"/>
                </a:solidFill>
                <a:latin typeface="Arial"/>
                <a:ea typeface="Arial"/>
                <a:cs typeface="Arial"/>
                <a:sym typeface="Arial"/>
              </a:rPr>
              <a:t>Conclusion from paper: controlled evidence-to-rule validation layer, not a replacement for expert judgment.</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3"/>
        </a:solidFill>
      </p:bgPr>
    </p:bg>
    <p:spTree>
      <p:nvGrpSpPr>
        <p:cNvPr id="226" name="Shape 226"/>
        <p:cNvGrpSpPr/>
        <p:nvPr/>
      </p:nvGrpSpPr>
      <p:grpSpPr>
        <a:xfrm>
          <a:off x="0" y="0"/>
          <a:ext cx="0" cy="0"/>
          <a:chOff x="0" y="0"/>
          <a:chExt cx="0" cy="0"/>
        </a:xfrm>
      </p:grpSpPr>
      <p:sp>
        <p:nvSpPr>
          <p:cNvPr id="227" name="Google Shape;227;p23"/>
          <p:cNvSpPr/>
          <p:nvPr/>
        </p:nvSpPr>
        <p:spPr>
          <a:xfrm>
            <a:off x="0" y="0"/>
            <a:ext cx="82298" cy="5143500"/>
          </a:xfrm>
          <a:prstGeom prst="rect">
            <a:avLst/>
          </a:prstGeom>
          <a:solidFill>
            <a:srgbClr val="0FA7A4"/>
          </a:solidFill>
          <a:ln cap="flat" cmpd="sng" w="12700">
            <a:solidFill>
              <a:srgbClr val="0FA7A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8" name="Google Shape;228;p23"/>
          <p:cNvSpPr/>
          <p:nvPr/>
        </p:nvSpPr>
        <p:spPr>
          <a:xfrm>
            <a:off x="82298" y="0"/>
            <a:ext cx="9061717" cy="61722"/>
          </a:xfrm>
          <a:prstGeom prst="rect">
            <a:avLst/>
          </a:prstGeom>
          <a:solidFill>
            <a:srgbClr val="0FA7A4"/>
          </a:solidFill>
          <a:ln cap="flat" cmpd="sng" w="12700">
            <a:solidFill>
              <a:srgbClr val="0FA7A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9" name="Google Shape;229;p23"/>
          <p:cNvSpPr/>
          <p:nvPr/>
        </p:nvSpPr>
        <p:spPr>
          <a:xfrm>
            <a:off x="548655" y="548640"/>
            <a:ext cx="2880437"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Play"/>
              <a:buNone/>
            </a:pPr>
            <a:r>
              <a:t/>
            </a:r>
            <a:endParaRPr b="0" i="0" sz="2300" u="none" cap="none" strike="noStrike">
              <a:solidFill>
                <a:schemeClr val="dk1"/>
              </a:solidFill>
              <a:latin typeface="Arial"/>
              <a:ea typeface="Arial"/>
              <a:cs typeface="Arial"/>
              <a:sym typeface="Arial"/>
            </a:endParaRPr>
          </a:p>
        </p:txBody>
      </p:sp>
      <p:sp>
        <p:nvSpPr>
          <p:cNvPr id="230" name="Google Shape;230;p23"/>
          <p:cNvSpPr/>
          <p:nvPr/>
        </p:nvSpPr>
        <p:spPr>
          <a:xfrm>
            <a:off x="548646" y="1569621"/>
            <a:ext cx="6035100" cy="6171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E8F0F4"/>
              </a:buClr>
              <a:buSzPts val="1800"/>
              <a:buFont typeface="Arial"/>
              <a:buNone/>
            </a:pPr>
            <a:r>
              <a:rPr b="1" lang="en" sz="2300">
                <a:solidFill>
                  <a:srgbClr val="E8F0F4"/>
                </a:solidFill>
              </a:rPr>
              <a:t>Thank you so much for your time!</a:t>
            </a:r>
            <a:endParaRPr b="1" i="0" sz="2300" u="none" cap="none" strike="noStrike">
              <a:solidFill>
                <a:schemeClr val="dk1"/>
              </a:solidFill>
            </a:endParaRPr>
          </a:p>
        </p:txBody>
      </p:sp>
      <p:cxnSp>
        <p:nvCxnSpPr>
          <p:cNvPr id="231" name="Google Shape;231;p23"/>
          <p:cNvCxnSpPr/>
          <p:nvPr/>
        </p:nvCxnSpPr>
        <p:spPr>
          <a:xfrm>
            <a:off x="548646" y="2571755"/>
            <a:ext cx="2743200" cy="0"/>
          </a:xfrm>
          <a:prstGeom prst="straightConnector1">
            <a:avLst/>
          </a:prstGeom>
          <a:noFill/>
          <a:ln cap="flat" cmpd="sng" w="25400">
            <a:solidFill>
              <a:srgbClr val="0FA7A4"/>
            </a:solidFill>
            <a:prstDash val="solid"/>
            <a:round/>
            <a:headEnd len="sm" w="sm" type="none"/>
            <a:tailEnd len="sm" w="sm" type="none"/>
          </a:ln>
        </p:spPr>
      </p:cxnSp>
      <p:sp>
        <p:nvSpPr>
          <p:cNvPr id="232" name="Google Shape;232;p23"/>
          <p:cNvSpPr/>
          <p:nvPr/>
        </p:nvSpPr>
        <p:spPr>
          <a:xfrm>
            <a:off x="624846" y="2967801"/>
            <a:ext cx="2194500" cy="466200"/>
          </a:xfrm>
          <a:prstGeom prst="roundRect">
            <a:avLst>
              <a:gd fmla="val 11765" name="adj"/>
            </a:avLst>
          </a:prstGeom>
          <a:solidFill>
            <a:srgbClr val="0FA7A4"/>
          </a:solidFill>
          <a:ln cap="flat" cmpd="sng" w="12700">
            <a:solidFill>
              <a:srgbClr val="0FA7A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3" name="Google Shape;233;p23"/>
          <p:cNvSpPr/>
          <p:nvPr/>
        </p:nvSpPr>
        <p:spPr>
          <a:xfrm>
            <a:off x="775676" y="3128968"/>
            <a:ext cx="1893000" cy="12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 sz="1100" u="none" cap="none" strike="noStrike">
                <a:solidFill>
                  <a:srgbClr val="FFFFFF"/>
                </a:solidFill>
                <a:latin typeface="Arial"/>
                <a:ea typeface="Arial"/>
                <a:cs typeface="Arial"/>
                <a:sym typeface="Arial"/>
              </a:rPr>
              <a:t>PolicyGuard · Haorui Wang</a:t>
            </a:r>
            <a:endParaRPr b="0" i="0" sz="1100" u="none" cap="none" strike="noStrike">
              <a:solidFill>
                <a:schemeClr val="dk1"/>
              </a:solidFill>
              <a:latin typeface="Arial"/>
              <a:ea typeface="Arial"/>
              <a:cs typeface="Arial"/>
              <a:sym typeface="Arial"/>
            </a:endParaRPr>
          </a:p>
        </p:txBody>
      </p:sp>
      <p:sp>
        <p:nvSpPr>
          <p:cNvPr id="234" name="Google Shape;234;p23"/>
          <p:cNvSpPr/>
          <p:nvPr/>
        </p:nvSpPr>
        <p:spPr>
          <a:xfrm>
            <a:off x="8469856" y="4882896"/>
            <a:ext cx="308618" cy="1508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7D1DA"/>
              </a:buClr>
              <a:buSzPts val="600"/>
              <a:buFont typeface="Arial"/>
              <a:buNone/>
            </a:pPr>
            <a:r>
              <a:rPr b="0" i="0" lang="en" sz="600" u="none" cap="none" strike="noStrike">
                <a:solidFill>
                  <a:srgbClr val="C7D1DA"/>
                </a:solidFill>
                <a:latin typeface="Arial"/>
                <a:ea typeface="Arial"/>
                <a:cs typeface="Arial"/>
                <a:sym typeface="Arial"/>
              </a:rPr>
              <a:t>8</a:t>
            </a:r>
            <a:endParaRPr b="0" i="0" sz="6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